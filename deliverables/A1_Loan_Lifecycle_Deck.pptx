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use mocked step times (stated) and synthetic data. KPIs are computed by shared/vsm.py.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Takt = 157.5 h / 120 applications = 1.31 h. PCE = VA / lead time. Step times mocked - validate in POC week 1 via time-and-motion + LOS timestamps.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Faster credit decisions and earlier risk signals, with humans 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34 → 13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origination-to-disbursement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6% → 14%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27.5 → 6.8 h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manual NVA touch per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66 → 131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files / month at same FTEs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0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autonomous credit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34.5-day lead time, only 6% of which is value-adding work; appraisal capacity (66 files/mo) is below demand (120), so backlog grows.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Approach: </a:t>
            </a:r>
            <a:r>
              <a:rPr sz="1500">
                <a:solidFill>
                  <a:srgbClr val="222222"/>
                </a:solidFill>
              </a:rPr>
              <a:t>Lean value stream map → Automation Priority Index → 7 agents placed where waste and bottlenecks are, not everywhere.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application → document ingestion → extraction with evidence → missing-info → RAG-cited policy checks → risk observations → recommendation → human approval → hash-chained decision summary.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Control by design: </a:t>
            </a:r>
            <a:r>
              <a:rPr sz="1500">
                <a:solidFill>
                  <a:srgbClr val="222222"/>
                </a:solidFill>
              </a:rPr>
              <a:t>agents recommend, humans decide; authority matrix enforced in code; deterministic financial maths; prompt-injection and PII guards.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in one segment (SME/mid-corporate), shadow mode on live files, MRM-ready evidence pack.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Credit teams spend most of the lifecycle waiting, chasing and re-keying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2</a:t>
            </a:r>
          </a:p>
        </p:txBody>
      </p:sp>
      <p:pic>
        <p:nvPicPr>
          <p:cNvPr id="6" name="Picture 5" descr="a1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1" y="1234440"/>
            <a:ext cx="11090156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Manual effort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Docs arrive by e-mail; data re-keyed into LOS and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spreadsheets; memos written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Late risk visibility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Policy checks on checklists; covenant breaches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found at quarterly test; adverse media ad hoc.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Weak auditability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Rationale spread across e-mail and memos;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hard to evidence who decided what, on which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value stream map shows 94% of elapsed time adds no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3</a:t>
            </a:r>
          </a:p>
        </p:txBody>
      </p:sp>
      <p:pic>
        <p:nvPicPr>
          <p:cNvPr id="6" name="Picture 5" descr="a1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· AUTOMATION PRIORITY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Opportunity: five areas where agents remove the most waste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4</a:t>
            </a:r>
          </a:p>
        </p:txBody>
      </p:sp>
      <p:pic>
        <p:nvPicPr>
          <p:cNvPr id="6" name="Picture 5" descr="a1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311161"/>
            <a:ext cx="5669280" cy="322983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1234440"/>
          <a:ext cx="56692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592"/>
                <a:gridCol w="2061556"/>
                <a:gridCol w="2748741"/>
                <a:gridCol w="515389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Value area (VSM step)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collection &amp; completeness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 + Doc Intelligence (missing-info + auto-chase)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29.6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Appraisal &amp; credit memo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 Agent (memo draft + observations)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27.8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Documentation &amp; CP check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Condition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17.8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extraction / spreading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Intelligence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11.7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KYC / AML / due 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388620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Priority = waste hours × feasibility × bottleneck factor</a:t>
            </a:r>
            <a:r>
              <a:rPr sz="1200">
                <a:solidFill>
                  <a:srgbClr val="222222"/>
                </a:solidFill>
              </a:rPr>
              <a:t>, so effort goes where it moves lead time and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Approval ranks low on purpose: </a:t>
            </a:r>
            <a:r>
              <a:rPr sz="1200">
                <a:solidFill>
                  <a:srgbClr val="222222"/>
                </a:solidFill>
              </a:rPr>
              <a:t>the decision stays human; agents only route and prepare the pack.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Plus portfolio early-warning: </a:t>
            </a:r>
            <a:r>
              <a:rPr sz="1200">
                <a:solidFill>
                  <a:srgbClr val="222222"/>
                </a:solidFill>
              </a:rPr>
              <a:t>continuous covenant/EWS monitoring instead of quarterly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Agent ecosystem: seven specialist agents, one orchestrator, one human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5</a:t>
            </a:r>
          </a:p>
        </p:txBody>
      </p:sp>
      <p:pic>
        <p:nvPicPr>
          <p:cNvPr id="6" name="Picture 5" descr="a1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97" y="1143000"/>
            <a:ext cx="8823524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14800"/>
          <a:ext cx="1124711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7125"/>
                <a:gridCol w="6005743"/>
                <a:gridCol w="3494250"/>
              </a:tblGrid>
              <a:tr h="28003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Never 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Normalises application, doc inventory, injection screen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Accept unscreened docs into prompts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Extracts fields with confidence + evidence; grounding check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Invent values not in source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Missing info + draft request; ratios; RAG-cited policy checks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Compute ratios with the LLM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Transparent scorecard grade, observations, mitigants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Use protected attributes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Approval / Workflow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Recommends next action, routes by authority, drafts memo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 or 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Tracks conditions precedent; blocks release until evidenced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Release funds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Portfolio Monitoring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Quarterly covenant + EWS scan, Red/Amber notes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Change limits or ratings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enterprise-ready, model-agnostic, auditable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6</a:t>
            </a:r>
          </a:p>
        </p:txBody>
      </p:sp>
      <p:pic>
        <p:nvPicPr>
          <p:cNvPr id="6" name="Picture 5" descr="a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A1_LOAN_LIFECYCLE/APP.PY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three applications, three different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59"/>
                <a:gridCol w="5486400"/>
                <a:gridCol w="1463040"/>
                <a:gridCol w="1463040"/>
              </a:tblGrid>
              <a:tr h="7543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Facility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agent findings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Routed to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APP-1001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Greenfield Logistics Pvt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$4.0M term loan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All checks pass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Senior Credit Officer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APP-1002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Sunrise Agro Foods Ltd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$1.5M working capital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CP-3.3 Audited financials Unaudited (audit in progress) | missing: Bank Statement, Stock Statement, Signed beneficial owner declaration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REQUEST INFO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Credit Manager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APP-1003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Meridian Infra Projects SPV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$28.0M project finance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CP-4.1 Pro-forma DSCR 0.59x; CP-4.2 Pro-forma Debt/EBITDA 10.24x; CP-4.3 Loan-to-Value 93% | warnings: CP-2.2, CP-2.3, CP-3.1, CP-3.3, CP-4.4, CP-5.1, CP-5.2 | prompt-injection text quarantined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Board Credit Committee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3484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Tabs: </a:t>
            </a:r>
            <a:r>
              <a:rPr sz="1200">
                <a:solidFill>
                  <a:srgbClr val="222222"/>
                </a:solidFill>
              </a:rPr>
              <a:t>⓪ value stream · ① origination → decision (agent trace, evidence, cited policy, memo, human gate) · ② disbursement CPs · ③ portfolio EWS · ④ audit chain + LLM telemetry.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Controls you can try: </a:t>
            </a:r>
            <a:r>
              <a:rPr sz="1200">
                <a:solidFill>
                  <a:srgbClr val="222222"/>
                </a:solidFill>
              </a:rPr>
              <a:t>approving above your authority is blocked; overriding the agent without rationale is blocked; every step lands in a hash-chained audit log.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LLM: </a:t>
            </a:r>
            <a:r>
              <a:rPr sz="1200">
                <a:solidFill>
                  <a:srgbClr val="222222"/>
                </a:solidFill>
              </a:rPr>
              <a:t>Azure OpenAI when credentials are set (.env), deterministic mock otherwise, so the demo always runs; PII masked before any model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12.7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-52%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6.75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-75%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14.3%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2.4x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131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+98%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349"/>
                <a:gridCol w="833410"/>
                <a:gridCol w="833410"/>
                <a:gridCol w="1818349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review effort / file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8.5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VSM steps 2-3 NVA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Exception identification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sample-based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100% of files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every policy check runs on every file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SLA adherence (21-day SLA)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~30%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~90%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assumed lead-time distribution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Analyst productivity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~2.0x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44 → 21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lead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at quarterly test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+1 quarter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continuous EWS scan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Value (illustrative): </a:t>
            </a:r>
            <a:r>
              <a:rPr sz="1200">
                <a:solidFill>
                  <a:srgbClr val="222222"/>
                </a:solidFill>
              </a:rPr>
              <a:t>1,440 files/yr × 22.75 h saved × $60/h loaded ≈ $2.0M/yr capacity; plus earlier interest accrual from a 22-day faster lead time.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120 applications/month, 21 days × 7.5 h, step times mocked (to be baselined in POC week 1); synthetic borrower data; 1 day = 8 h wait.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 to prove value in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Mobilise, data access, security review, VSM baseline (time-and-motion + LOS timestamps)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Baseline KPIs signed off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extraction + policy RAG on 200 historical files; evaluation harness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field accuracy, ≥90% missing-info recall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orchestrator in LOS sandbox; analyst workbench; HITL + audit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50 files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on live SME/mid-corp files alongside analysts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policy-check agreement, −40% touch time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KPI evidence, MRM/RAI pack, production plan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 for MVP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2 AI engineers · data engineer · UX (0.5)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Client: product owner, credit SME, risk/compliance,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integration engineer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200-500 historical files with decisions, credit policy,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extracts, KYC/sanctions samples, covenant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Field accuracy · missing-info recall · policy agreement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touch time · lead time · override rate · zero autonomous decisions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access delays → masked extracts / synthetic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Hallucination → grounding check + deterministic maths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MRM approval → early engagement, eval evidence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Adoption → analyst co-design, override with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segment to an enterprise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SME/mid-corp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Evidence pack for MRM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Business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in 1 segment, LOS integrated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Teams approval cards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SLA + override monitoring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Corporate &amp; project finance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Disbursement CP + portfolio EWS live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Azure AI Search over memo history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Platform · 12-18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Reusable agent platform (gateway,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eval, audit, guardrails) for trade,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retail credit, collections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Production hardening: </a:t>
            </a:r>
            <a:r>
              <a:rPr sz="1300">
                <a:solidFill>
                  <a:srgbClr val="222222"/>
                </a:solidFill>
              </a:rPr>
              <a:t>Entra ID + RBAC, private endpoints, Key Vault, data residency; APIM AI gateway with quotas and content safety; OpenTelemetry tracing.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Model risk management: </a:t>
            </a:r>
            <a:r>
              <a:rPr sz="1300">
                <a:solidFill>
                  <a:srgbClr val="222222"/>
                </a:solidFill>
              </a:rPr>
              <a:t>model inventory, eval sets per agent, drift monitoring, challenger prompts, annual validation; documented human override.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segment and sponsor · grant data access · nominate credit SME · schedule week-0 VSM workshop.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All borrowers, documents, policy (CP-x clauses), portfolio and step times are synthetic / mocked. Demand 120 apps/month; 21 days × 7.5 h; 1 wait-day = 8 h; $60/h loaded analyst cost. LLM runs in deterministic mock mode unless Azure OpenAI credentials are set. Ratios, rules and grades are deterministic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
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(30 sec) - Name the problem and the guarantee up front.</a:t>
            </a:r>
          </a:p>
          <a:p>
            <a:r>
              <a:t>"Our credit teams spend most of the loan lifecycle waiting, chasing documents and re-keying data. We looked at where agents remove that waste, and built a working prototype that does it - with one guarantee: the AI recommends, people decide. Zero autonomous credit decisions."</a:t>
            </a:r>
          </a:p>
          <a:p>
            <a:r>
              <a:t>Preview the ask (last bullet): an 8-week POC in one segment, in shadow mode.</a:t>
            </a:r>
          </a:p>
          <a:p>
            <a:r>
              <a:t>All figures use mocked step times (stated) and synthetic data. KPIs are computed by shared/vsm.py.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Three pains a CIO recognises.</a:t>
            </a:r>
          </a:p>
          <a:p>
            <a:r>
              <a:t>"Manual effort: documents arrive by e-mail, data is re-keyed, memos are written from scratch. Late risk visibility: covenant breaches are found at the quarterly test. Weak auditability: it is hard to evidence who decided what, on which data - and that is a regulatory exposure, not just an efficiency issue."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Show the discipline before the answer.</a:t>
            </a:r>
          </a:p>
          <a:p>
            <a:r>
              <a:t>"We mapped the process before choosing any AI. Origination to disbursement takes 34.5 days and only 6.0% of it adds value. 4 steps run slower than demand requires, and appraisal capacity is 66 files a month against demand of 120 - so the backlog grows."</a:t>
            </a:r>
          </a:p>
          <a:p>
            <a:r>
              <a:t>Lead with these numbers; they matter more to a CIO than any model detail.</a:t>
            </a:r>
          </a:p>
          <a:p>
            <a:r>
              <a:t>Takt = 157.5 h / 120 applications = 1.31 h. PCE = VA / lead time. Step times mocked - validate in POC week 1 via time-and-motion + LOS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Agents go where the waste is, not everywhere.</a:t>
            </a:r>
          </a:p>
          <a:p>
            <a:r>
              <a:t>"We ranked every step by waste hours x feasibility x bottleneck. Document completeness and appraisal/memo come first. Approval ranks low on purpose - the decision stays human; agents only prepare and route the pack. We add continuous portfolio early warning instead of waiting for the quarterly covenant test."</a:t>
            </a:r>
          </a:p>
          <a:p>
            <a:r>
              <a:t>HOW THE API (AUTOMATION PRIORITY INDEX) IS CALCULATED</a:t>
            </a:r>
          </a:p>
          <a:p>
            <a:r>
              <a:t>API = NVA hours (manual touch + wait) x agent feasibility (1-5) x bottleneck factor / 10</a:t>
            </a:r>
          </a:p>
          <a:p>
            <a:r>
              <a:t>- NVA hours: non-value-added touch time + wait time per unit (1 wait day = 8 h).</a:t>
            </a:r>
          </a:p>
          <a:p>
            <a:r>
              <a:t>- Feasibility: how reliably an agent can do the step (data, maturity, risk); 1 = keep human, 5 = ideal for an agent.</a:t>
            </a:r>
          </a:p>
          <a:p>
            <a:r>
              <a:t>- Bottleneck factor: effective cycle time / takt time, minimum 1. Effective CT = (VA + NVA) / FTE; takt = 1.31 h.</a:t>
            </a:r>
          </a:p>
          <a:p>
            <a:r>
              <a:t>- / 10 only scales the number for readability.</a:t>
            </a:r>
          </a:p>
          <a:p>
            <a:r>
              <a:t>Worked examples:</a:t>
            </a:r>
          </a:p>
          <a:p>
            <a:r>
              <a:t>#1 Doc collection &amp; completeness: NVA 4 h + wait 6 d x 8 = 52 h; feasibility 5; CT (0.5 + 4) / 3 FTE = 1.5 h -&gt; bottleneck 1.5 / 1.31 = 1.14; API = 52 x 5 x 1.14 / 10 = 29.6</a:t>
            </a:r>
          </a:p>
          <a:p>
            <a:r>
              <a:t>#2 Appraisal &amp; credit memo: NVA 6 h + wait 4 d x 8 = 38 h; feasibility 4; CT (6 + 6) / 5 FTE = 2.4 h -&gt; bottleneck 2.4 / 1.31 = 1.83; API = 38 x 4 x 1.83 / 10 = 27.8</a:t>
            </a:r>
          </a:p>
          <a:p>
            <a:r>
              <a:t>#3 Documentation &amp; CP check: NVA 3 h + wait 4 d x 8 = 35 h; feasibility 4; CT (2 + 3) / 3 FTE = 1.67 h -&gt; bottleneck 1.67 / 1.31 = 1.27; API = 35 x 4 x 1.27 / 10 = 17.8</a:t>
            </a:r>
          </a:p>
          <a:p>
            <a:r>
              <a:t>Low on purpose - #6 Approval (committee): lots of waiting (41.5 h) but feasibility 2 because the decision stays human, so API = 8.3.</a:t>
            </a:r>
          </a:p>
          <a:p>
            <a:r>
              <a:t>Step times and feasibility scores are mocked assumptions; the formula is code (shared/vsm.py) and inputs are re-measured in POC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- Point at the 'Never does' column; that is what builds trust.</a:t>
            </a:r>
          </a:p>
          <a:p>
            <a:r>
              <a:t>"Seven specialist agents, one orchestrator, one human gate. Each has one job and an explicit list of things it must never do: the LLM never computes a ratio, never invents a value without evidence, never approves, never releases funds."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(1 min) - Control, audit, data protection.</a:t>
            </a:r>
          </a:p>
          <a:p>
            <a:r>
              <a:t>"Identity decides who can approve what - the authority matrix is enforced in code. PII is masked before any model call, and documents are screened for prompt injection. Every step goes to a hash-chained audit log that Model Risk and regulators can verify. It is model- and cloud-agnostic: Azure OpenAI, Bedrock or a self-hosted model. AWS and Azure references are in the appendix."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(2 min) - Show it working; switch to the live app if possible (http://localhost:8501).</a:t>
            </a:r>
          </a:p>
          <a:p>
            <a:r>
              <a:t>APP-1001 Greenfield Logistics Pvt Ltd: approve -&gt; Senior Credit Officer. APP-1002 Sunrise Agro Foods Ltd: request info -&gt; Credit Manager. APP-1003 Meridian Infra Projects SPV Ltd: decline -&gt; Board Credit Committee.</a:t>
            </a:r>
          </a:p>
          <a:p>
            <a:r>
              <a:t>"Same agents, three different outcomes: a clean approval, an incomplete file where the agent drafts the information request, and a decline on policy breaches where hidden prompt-injection text in a document was quarantined."</a:t>
            </a:r>
          </a:p>
          <a:p>
            <a:r>
              <a:t>Demo tip: try approving the large case as a junior officer to show the authority block; then override without a rationale to show that is blocked too; finish on the Audit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- Lead time 34.5 -&gt; 12.7 days; manual touch 27.5 -&gt; 6.75 h per file; capacity 66 -&gt; 131 files/month at the same headcount.</a:t>
            </a:r>
          </a:p>
          <a:p>
            <a:r>
              <a:t>"That is about $2M a year of analyst capacity, plus revenue from faster drawdown and every file checked against every policy rule instead of samples."</a:t>
            </a:r>
          </a:p>
          <a:p>
            <a:r>
              <a:t>Present the value as illustrative; POC week 1 baselines it from LOS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(30 sec) - End with a decision.</a:t>
            </a:r>
          </a:p>
          <a:p>
            <a:r>
              <a:t>"We are asking for an 8-week POC in one segment, in shadow mode next to analysts, producing the evidence pack Model Risk needs. Success means at least 95% field accuracy, 95% agreement on policy checks, 40% less touch time - and zero autonomous credit decisions."</a:t>
            </a:r>
          </a:p>
          <a:p>
            <a:r>
              <a:t>Requests: business sponsor + credit SME, access to 200-500 historical files and the policy corpus, an LOS sandbox, choice of LLM platform and identity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 - One segment today, a reusable agent platform in 12-18 months (trade, retail credit, collections).</a:t>
            </a:r>
          </a:p>
          <a:p>
            <a:r>
              <a:t>Each step reuses the same gateway, evaluation, audit and guardrail services, so each new use case costs less.</a:t>
            </a:r>
          </a:p>
          <a:p>
            <a:r>
              <a:t>Expected questions: AI making credit decisions (no - authority enforced in code); hallucination (evidence + grounding + deterministic maths + 50-check eval harness); auditability (hash-chained log); customer data (PII masking, in-region or self-hosted models).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actually runs today. Same agents and code path as production; only the platform services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AWS deployment. Client-cloud agnostic: the same container images, agent graph and MCP tool contracts deploy to either cloud; only managed services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Azure deployment. Client-cloud agnostic: the same container images, agent graph and MCP tool contracts deploy to either cloud; only managed services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reference architecture for an agentic AI platform on AWS: users, identity, network, edge, auth, application layer (FastAPI, LangGraph agents, MCP server), data access (PostgreSQL + secrets), enterprise systems via MCP tools, ingestion/RAG, semantic layer, LLM governance, human-in-the-loop, MLOps, observability and cross-cutting services. Our agents slot into the LangGraph and MCP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reference architecture for an agentic AI platform on Azure: users, identity, network, edge, auth, application layer (FastAPI, LangGraph agents, MCP server), data access (PostgreSQL + secrets), enterprise systems via MCP tools, ingestion/RAG, semantic layer, LLM governance, human-in-the-loop, MLOps, observability and cross-cutting services. Our agents slot into the LangGraph and MCP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Faster credit decisions and earlier risk signals, with humans in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34 → 13 d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origination-to-disbursement lead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6% → 14%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process cycle efficiency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27.5 → 6.8 h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manual NVA touch per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66 → 131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files / month at same FTEs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325880"/>
            <a:ext cx="2103120" cy="96012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autonomous credit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Problem: </a:t>
            </a:r>
            <a:r>
              <a:rPr sz="1500">
                <a:solidFill>
                  <a:srgbClr val="222222"/>
                </a:solidFill>
              </a:rPr>
              <a:t>34.5-day lead time, only 6% of which is value-adding work; appraisal capacity (66 files/mo) is below demand (120), so backlog grows.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Approach: </a:t>
            </a:r>
            <a:r>
              <a:rPr sz="1500">
                <a:solidFill>
                  <a:srgbClr val="222222"/>
                </a:solidFill>
              </a:rPr>
              <a:t>Lean value stream map → Automation Priority Index → 7 agents placed where waste and bottlenecks are, not everywhere.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Prototype (working): </a:t>
            </a:r>
            <a:r>
              <a:rPr sz="1500">
                <a:solidFill>
                  <a:srgbClr val="222222"/>
                </a:solidFill>
              </a:rPr>
              <a:t>application → document ingestion → extraction with evidence → missing-info → RAG-cited policy checks → risk observations → recommendation → human approval → hash-chained decision summary.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Control by design: </a:t>
            </a:r>
            <a:r>
              <a:rPr sz="1500">
                <a:solidFill>
                  <a:srgbClr val="222222"/>
                </a:solidFill>
              </a:rPr>
              <a:t>agents recommend, humans decide; authority matrix enforced in code; deterministic financial maths; prompt-injection and PII guards.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222222"/>
                </a:solidFill>
              </a:rPr>
              <a:t>• Ask: </a:t>
            </a:r>
            <a:r>
              <a:rPr sz="1500">
                <a:solidFill>
                  <a:srgbClr val="222222"/>
                </a:solidFill>
              </a:rPr>
              <a:t>8-week POC in one segment (SME/mid-corporate), shadow mode on live files, MRM-ready evidence pack.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Credit teams spend most of the lifecycle waiting, chasing and re-keying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2</a:t>
            </a:r>
          </a:p>
        </p:txBody>
      </p:sp>
      <p:pic>
        <p:nvPicPr>
          <p:cNvPr id="6" name="Picture 5" descr="a1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1" y="1234440"/>
            <a:ext cx="11090156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7091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Manual effort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Docs arrive by e-mail; data re-keyed into LOS and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spreadsheets; memos written from scratch.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47091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Late risk visibility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Policy checks on checklists; covenant breaches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found at quarterly test; adverse media ad hoc.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7091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Weak auditability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Rationale spread across e-mail and memos;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hard to evidence who decided what, on which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CURRENT PROCESS · LEAN VSM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Current process: value stream map shows 94% of elapsed time adds no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3</a:t>
            </a:r>
          </a:p>
        </p:txBody>
      </p:sp>
      <p:pic>
        <p:nvPicPr>
          <p:cNvPr id="6" name="Picture 5" descr="a1_vsm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40" y="1143000"/>
            <a:ext cx="10006438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OPPORTUNITY · AUTOMATION PRIORITY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Opportunity: five areas where agents remove the most waste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4</a:t>
            </a:r>
          </a:p>
        </p:txBody>
      </p:sp>
      <p:pic>
        <p:nvPicPr>
          <p:cNvPr id="6" name="Picture 5" descr="a1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311161"/>
            <a:ext cx="5669280" cy="322983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234440"/>
          <a:ext cx="566927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592"/>
                <a:gridCol w="2061556"/>
                <a:gridCol w="2748741"/>
                <a:gridCol w="515389"/>
              </a:tblGrid>
              <a:tr h="396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 area (VSM step)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Doc collection &amp; completeness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Intake + Doc Intelligence (missing-info + auto-chase)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29.6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Appraisal &amp; credit memo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Risk Agent (memo draft + observations)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27.8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Documentation &amp; CP check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Disbursement / Condition Agent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Data extraction / spreading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Doc Intelligence Agent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11.7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KYC / AML / due diligence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Due-Diligence Agent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10.8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388620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Priority = waste hours × feasibility × bottleneck factor</a:t>
            </a:r>
            <a:r>
              <a:rPr sz="1200">
                <a:solidFill>
                  <a:srgbClr val="222222"/>
                </a:solidFill>
              </a:rPr>
              <a:t>, so effort goes where it moves lead time and capacity.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Approval ranks low on purpose: </a:t>
            </a:r>
            <a:r>
              <a:rPr sz="1200">
                <a:solidFill>
                  <a:srgbClr val="222222"/>
                </a:solidFill>
              </a:rPr>
              <a:t>the decision stays human; agents only route and prepare the pack.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Plus portfolio early-warning: </a:t>
            </a:r>
            <a:r>
              <a:rPr sz="1200">
                <a:solidFill>
                  <a:srgbClr val="222222"/>
                </a:solidFill>
              </a:rPr>
              <a:t>continuous covenant/EWS monitoring instead of quarterly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PROPOSED AI / AGENT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Agent ecosystem: seven specialist agents, one orchestrator, one 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5</a:t>
            </a:r>
          </a:p>
        </p:txBody>
      </p:sp>
      <p:pic>
        <p:nvPicPr>
          <p:cNvPr id="6" name="Picture 5" descr="a1_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997" y="1143000"/>
            <a:ext cx="8823524" cy="29260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14800"/>
          <a:ext cx="1124711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125"/>
                <a:gridCol w="6005743"/>
                <a:gridCol w="3494250"/>
              </a:tblGrid>
              <a:tr h="28003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Does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Never does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Intake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Normalises application, doc inventory, injection screen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Accept unscreened docs into prompts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Document Intelligence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Extracts fields with confidence + evidence; grounding check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Invent values not in source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Due-Diligence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Missing info + draft request; ratios; RAG-cited policy checks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Compute ratios with the LLM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Transparent scorecard grade, observations, mitigants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Use protected attributes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Approval / Workflow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Recommends next action, routes by authority, drafts memo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Approve or decline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Disbursement / CP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Tracks conditions precedent; blocks release until evidenced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Release funds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Portfolio Monitoring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Quarterly covenant + EWS scan, Red/Amber notes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Change limits or ratings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Architecture: enterprise-ready, model-agnostic, auditable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6</a:t>
            </a:r>
          </a:p>
        </p:txBody>
      </p:sp>
      <p:pic>
        <p:nvPicPr>
          <p:cNvPr id="6" name="Picture 5" descr="a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20" y="1097280"/>
            <a:ext cx="937227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WORKING PROTOTYPE · STREAMLIT RUN A1_LOAN_LIFECYCLE/APP.PY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Demo: three applications, three different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1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59"/>
                <a:gridCol w="5486400"/>
                <a:gridCol w="1463040"/>
                <a:gridCol w="1463040"/>
              </a:tblGrid>
              <a:tr h="7543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Facility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agent findings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Routed to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APP-1001</a:t>
                      </a:r>
                    </a:p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Greenfield Logistics Pvt Ltd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$4.0M term loan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All checks pass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APPROVE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Senior Credit Officer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APP-1002</a:t>
                      </a:r>
                    </a:p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Sunrise Agro Foods Ltd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$1.5M working capital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CP-3.3 Audited financials Unaudited (audit in progress) | missing: Bank Statement, Stock Statement, Signed beneficial owner declaration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REQUEST INFO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Credit Manager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APP-1003</a:t>
                      </a:r>
                    </a:p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Meridian Infra Projects SPV Ltd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$28.0M project finance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CP-4.1 Pro-forma DSCR 0.59x; CP-4.2 Pro-forma Debt/EBITDA 10.24x; CP-4.3 Loan-to-Value 93% | warnings: CP-2.2, CP-2.3, CP-3.1, CP-3.3, CP-4.4, CP-5.1, CP-5.2 | prompt-injection text quarantined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DECLINE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Board Credit Committee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48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Tabs: </a:t>
            </a:r>
            <a:r>
              <a:rPr sz="1200">
                <a:solidFill>
                  <a:srgbClr val="222222"/>
                </a:solidFill>
              </a:rPr>
              <a:t>⓪ value stream · ① origination → decision (agent trace, evidence, cited policy, memo, human gate) · ② disbursement CPs · ③ portfolio EWS · ④ audit chain + LLM telemetry.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Controls you can try: </a:t>
            </a:r>
            <a:r>
              <a:rPr sz="1200">
                <a:solidFill>
                  <a:srgbClr val="222222"/>
                </a:solidFill>
              </a:rPr>
              <a:t>approving above your authority is blocked; overriding the agent without rationale is blocked; every step lands in a hash-chained audit log.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LLM: </a:t>
            </a:r>
            <a:r>
              <a:rPr sz="1200">
                <a:solidFill>
                  <a:srgbClr val="222222"/>
                </a:solidFill>
              </a:rPr>
              <a:t>Azure OpenAI when credentials are set (.env), deterministic mock otherwise, so the demo always runs; PII masked before any model call.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Business impact: before vs after (assumptions stated)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576071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337"/>
                <a:gridCol w="900112"/>
                <a:gridCol w="900112"/>
                <a:gridCol w="1260157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Lead time (days)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34.5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12.7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-63%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Touch time per unit (h)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44.0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21.25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-52%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NVA touch (h)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27.5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6.75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-75%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Wait (h)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80.0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-66%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PCE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6.0%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14.3%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2.4x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Steps over takt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bottlenecks removed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Capacity (units/month, bottleneck-bound)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+98%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34440"/>
          <a:ext cx="53035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349"/>
                <a:gridCol w="833410"/>
                <a:gridCol w="833410"/>
                <a:gridCol w="1818349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Document review effort / file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8.5 h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1.0 h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VSM steps 2-3 NVA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Exception identification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sample-based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100% of files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every policy check runs on every file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SLA adherence (21-day SLA)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~30%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~90%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assumed lead-time distribution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Analyst productivity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1.0x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~2.0x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touch time 44 → 21 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Early warning lead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at quarterly test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+1 quarter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continuous EWS scan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Value (illustrative): </a:t>
            </a:r>
            <a:r>
              <a:rPr sz="1200">
                <a:solidFill>
                  <a:srgbClr val="222222"/>
                </a:solidFill>
              </a:rPr>
              <a:t>1,440 files/yr × 22.75 h saved × $60/h loaded ≈ $2.0M/yr capacity; plus earlier interest accrual from a 22-day faster lead time.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22222"/>
                </a:solidFill>
              </a:rPr>
              <a:t>• Assumptions: </a:t>
            </a:r>
            <a:r>
              <a:rPr sz="1200">
                <a:solidFill>
                  <a:srgbClr val="222222"/>
                </a:solidFill>
              </a:rPr>
              <a:t>120 applications/month, 21 days × 7.5 h, step times mocked (to be baselined in POC week 1); synthetic borrower data; 1 day = 8 h wait.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POC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POC: 8 weeks to prove value in shadow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69494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667"/>
                <a:gridCol w="4098387"/>
                <a:gridCol w="2227384"/>
              </a:tblGrid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Exit criteria</a:t>
                      </a:r>
                    </a:p>
                  </a:txBody>
                  <a:tcPr marL="45720" marR="45720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Mobilise, data access, security review, VSM baseline (time-and-motion + LOS timestamps)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Baseline KPIs signed off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2-3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Doc extraction + policy RAG on 200 historical files; evaluation harness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≥95% field accuracy, ≥90% missing-info recall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4-5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Agents + orchestrator in LOS sandbox; analyst workbench; HITL + audit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End-to-end on 50 files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6-7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Shadow mode on live SME/mid-corp files alongside analysts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≥95% policy-check agreement, −40% touch 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Readout: KPI evidence, MRM/RAI pack, production plan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Go / no-go for MVP</a:t>
                      </a:r>
                    </a:p>
                  </a:txBody>
                  <a:tcPr marL="45720" marR="45720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89520" y="123444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Team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FDE lead · 2 AI engineers · data engineer · UX (0.5)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Client: product owner, credit SME, risk/compliance,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LOS integration engineer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78892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Data required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200-500 historical files with decisions, credit policy,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LOS extracts, KYC/sanctions samples, covenant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3484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1F3A5F"/>
                </a:solidFill>
              </a:defRPr>
            </a:pPr>
            <a:r>
              <a:t>KPIs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Field accuracy · missing-info recall · policy agreement ·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touch time · lead time · override rate · zero autonomous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3484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300" b="1">
                <a:solidFill>
                  <a:srgbClr val="E76F51"/>
                </a:solidFill>
              </a:defRPr>
            </a:pPr>
            <a:r>
              <a:t>Risks &amp; mitigations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Data access delays → masked extracts / synthetic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Hallucination → grounding check + deterministic maths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MRM approval → early engagement, eval evidence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Adoption → analyst co-design, override with reason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Production roadmap: from one segment to an enterprise agent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POC · wks 1-8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Shadow mode, SME/mid-corp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Evidence pack for MRM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Business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MVP · months 3-6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Live in 1 segment, LOS integrated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Teams approval cards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SLA + override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Scale · months 6-12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Corporate &amp; project finance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Disbursement CP + portfolio EWS live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Azure AI Search over memo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280160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400" b="1">
                <a:solidFill>
                  <a:srgbClr val="1F3A5F"/>
                </a:solidFill>
              </a:defRPr>
            </a:pPr>
            <a:r>
              <a:t>Platform · 12-18 months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Reusable agent platform (gateway,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eval, audit, guardrails) for trade,</a:t>
            </a:r>
          </a:p>
          <a:p>
            <a:pPr>
              <a:defRPr sz="1200">
                <a:solidFill>
                  <a:srgbClr val="222222"/>
                </a:solidFill>
              </a:defRPr>
            </a:pPr>
            <a:r>
              <a:t>retail credit, collections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222222"/>
                </a:solidFill>
              </a:rPr>
              <a:t>• Production hardening: </a:t>
            </a:r>
            <a:r>
              <a:rPr sz="1300">
                <a:solidFill>
                  <a:srgbClr val="222222"/>
                </a:solidFill>
              </a:rPr>
              <a:t>Entra ID + RBAC, private endpoints, Key Vault, data residency; APIM AI gateway with quotas and content safety; OpenTelemetry tracing.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22222"/>
                </a:solidFill>
              </a:rPr>
              <a:t>• Model risk management: </a:t>
            </a:r>
            <a:r>
              <a:rPr sz="1300">
                <a:solidFill>
                  <a:srgbClr val="222222"/>
                </a:solidFill>
              </a:rPr>
              <a:t>model inventory, eval sets per agent, drift monitoring, challenger prompts, annual validation; documented human override.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222222"/>
                </a:solidFill>
              </a:rPr>
              <a:t>• Next steps: </a:t>
            </a:r>
            <a:r>
              <a:rPr sz="1300">
                <a:solidFill>
                  <a:srgbClr val="222222"/>
                </a:solidFill>
              </a:rPr>
              <a:t>confirm POC segment and sponsor · grant data access · nominate credit SME · schedule week-0 VSM workshop.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6636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1200" b="1">
                <a:solidFill>
                  <a:srgbClr val="6C757D"/>
                </a:solidFill>
              </a:defRPr>
            </a:pPr>
            <a:r>
              <a:t>Assumptions &amp; synthetic data</a:t>
            </a:r>
          </a:p>
          <a:p>
            <a:pPr>
              <a:defRPr sz="1000">
                <a:solidFill>
                  <a:srgbClr val="222222"/>
                </a:solidFill>
              </a:defRPr>
            </a:pPr>
            <a:r>
              <a:t>All borrowers, documents, policy (CP-x clauses), portfolio and step times are synthetic / mocked. Demand 120 apps/month; 21 days × 7.5 h; 1 wait-day = 8 h; $60/h loaded analyst cost. LLM runs in deterministic mock mode unless Azure OpenAI credentials are set. Ratios, rules and grades are deterministic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A · POC deployment today: Docker Compose with a local GPU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11</a:t>
            </a:r>
          </a:p>
        </p:txBody>
      </p:sp>
      <p:pic>
        <p:nvPicPr>
          <p:cNvPr id="6" name="Picture 5" descr="poc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49612"/>
            <a:ext cx="11612879" cy="5044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B · AWS production deployment: agents, MCP server,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12</a:t>
            </a:r>
          </a:p>
        </p:txBody>
      </p:sp>
      <p:pic>
        <p:nvPicPr>
          <p:cNvPr id="6" name="Picture 5" descr="a1_deploy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4" y="1097280"/>
            <a:ext cx="1097039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C · Azure production deployment: agents, MCP server,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13</a:t>
            </a:r>
          </a:p>
        </p:txBody>
      </p:sp>
      <p:pic>
        <p:nvPicPr>
          <p:cNvPr id="6" name="Picture 5" descr="a1_deploy_az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4" y="1097280"/>
            <a:ext cx="1097039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D · Reference platform: AWS agentic AI with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14</a:t>
            </a:r>
          </a:p>
        </p:txBody>
      </p:sp>
      <p:pic>
        <p:nvPicPr>
          <p:cNvPr id="6" name="Picture 5" descr="ref_aws_agentic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09728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</a:defRPr>
            </a:pPr>
            <a:r>
              <a:t>APPENDIX · 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</a:defRPr>
            </a:pPr>
            <a:r>
              <a:t>Appendix E · Reference platform: Azure agentic AI with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</a:defRPr>
            </a:pPr>
            <a:r>
              <a:t>Agentic Loan Lifecycle Management · FDE client challenge · synthetic data, mocked step times   |   15</a:t>
            </a:r>
          </a:p>
        </p:txBody>
      </p:sp>
      <p:pic>
        <p:nvPicPr>
          <p:cNvPr id="6" name="Picture 5" descr="ref_azure_agentic_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09728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
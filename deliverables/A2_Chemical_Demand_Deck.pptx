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 (30 sec) - Name the problem, not the technology.</a:t>
            </a:r>
          </a:p>
          <a:p>
            <a:r>
              <a:t>"Demand changes faster than our planning cycle. We plan monthly; by the time we see a deviation it is ~4 weeks old. That gives us stockouts in one region, excess in another, and planners firefighting instead of planning. We looked at where AI and agents close that gap - and we recommend one place to start."</a:t>
            </a:r>
          </a:p>
          <a:p>
            <a:r>
              <a:t>Preview the ask (last bullet): an 8-week POC in shadow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 (1 min) - Show the discipline before the answer.</a:t>
            </a:r>
          </a:p>
          <a:p>
            <a:r>
              <a:t>"We mapped the process before choosing any AI. Signal-to-action takes 27.6 days and only 3.7% of that adds value - the rest is waiting, re-keying and email. 4 steps run slower than demand requires (takt 1.31 h); the bottleneck is deviation detection &amp; triage."</a:t>
            </a:r>
          </a:p>
          <a:p>
            <a:r>
              <a:t>Lead with these two numbers - they matter more to a CIO than any model detail. Step times are mocked; validated in POC week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 (2 min) - Do not read the table; point at the structure, then summarise by wave.</a:t>
            </a:r>
          </a:p>
          <a:p>
            <a:r>
              <a:t>"Every use case has the same seven-part card: business problem, AI/agent approach, data required, action taken, human involvement, KPI and expected benefit. We scored them on value x feasibility into three waves."</a:t>
            </a:r>
          </a:p>
          <a:p>
            <a:r>
              <a:t>Wave 1 (now): UC1 demand sensing + agentic response, UC2 stockout/excess - highest value, data already in ERP.</a:t>
            </a:r>
          </a:p>
          <a:p>
            <a:r>
              <a:t>Wave 2 (next): UC3 inventory optimisation, UC4 shipment exceptions, UC7 invoice/AP (stand-alone quick win).</a:t>
            </a:r>
          </a:p>
          <a:p>
            <a:r>
              <a:t>Wave 3 (later): UC5 lane optimisation, UC6 supply disruption - big value, needs external data and network change.</a:t>
            </a:r>
          </a:p>
          <a:p>
            <a:r>
              <a:t>"Together roughly $50-75M a year run-rate plus a $40-60M one-off working-capital release - planning assumptions the POC will confirm or correct."</a:t>
            </a:r>
          </a:p>
          <a:p>
            <a:r>
              <a:t>If asked about data readiness: point at the 'Data required' column. Source: a2_chem_demand/data/opportunities.csv.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 (1 min) - The decisive argument for UC1.</a:t>
            </a:r>
          </a:p>
          <a:p>
            <a:r>
              <a:t>"Demand sensing is the foundation. Inventory optimisation, stockout prediction and distribution planning all need a better signal. Fix the signal first and every later use case becomes cheaper and more accurate. It also attacks the #1 bottleneck in our value stream (highest Automation Priority Index, right-hand chart)."</a:t>
            </a:r>
          </a:p>
          <a:p>
            <a:r>
              <a:t>HOW THE API (AUTOMATION PRIORITY INDEX) IS CALCULATED</a:t>
            </a:r>
          </a:p>
          <a:p>
            <a:r>
              <a:t>API = NVA hours (manual touch + wait) x agent feasibility (1-5) x bottleneck factor / 10</a:t>
            </a:r>
          </a:p>
          <a:p>
            <a:r>
              <a:t>- NVA hours: non-value-added touch time + wait time per unit (1 wait day = 8 h).</a:t>
            </a:r>
          </a:p>
          <a:p>
            <a:r>
              <a:t>- Feasibility: how reliably an agent can do the step (data, maturity, risk); 1 = keep human, 5 = ideal for an agent.</a:t>
            </a:r>
          </a:p>
          <a:p>
            <a:r>
              <a:t>- Bottleneck factor: effective cycle time / takt time, minimum 1. Effective CT = (VA + NVA) / FTE; takt = 1.31 h.</a:t>
            </a:r>
          </a:p>
          <a:p>
            <a:r>
              <a:t>- / 10 only scales the number for readability.</a:t>
            </a:r>
          </a:p>
          <a:p>
            <a:r>
              <a:t>Worked examples:</a:t>
            </a:r>
          </a:p>
          <a:p>
            <a:r>
              <a:t>#1 Deviation detection &amp; triage: NVA 3 h + wait 5 d x 8 = 43 h; feasibility 5; CT (0.5 + 3) / 2 FTE = 1.75 h -&gt; bottleneck 1.75 / 1.31 = 1.33; API = 43 x 5 x 1.33 / 10 = 28.6</a:t>
            </a:r>
          </a:p>
          <a:p>
            <a:r>
              <a:t>#2 Inventory &amp; supply constraint check: NVA 2.5 h + wait 2 d x 8 = 18.5 h; feasibility 5; CT (1 + 2.5) / 2 FTE = 1.75 h -&gt; bottleneck 1.75 / 1.31 = 1.33; API = 18.5 x 5 x 1.33 / 10 = 12.3</a:t>
            </a:r>
          </a:p>
          <a:p>
            <a:r>
              <a:t>#3 Forecast generation &amp; review: NVA 2 h + wait 3 d x 8 = 26 h; feasibility 4; CT (1 + 2) / 3 FTE = 1 h -&gt; bottleneck 1 / 1.31 = 1; API = 26 x 4 x 1 / 10 = 10.4</a:t>
            </a:r>
          </a:p>
          <a:p>
            <a:r>
              <a:t>Low on purpose - #5 S&amp;OP / management approval: lots of waiting (49 h) but feasibility 2 because the decision stays human, so API = 9.8.</a:t>
            </a:r>
          </a:p>
          <a:p>
            <a:r>
              <a:t>Step times and feasibility scores are mocked assumptions; the formula is code (shared/vsm.py) and inputs are re-measured in POC week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 - It is an agentic response loop, not just a forecast.</a:t>
            </a:r>
          </a:p>
          <a:p>
            <a:r>
              <a:t>"Signal -&gt; forecast -&gt; deviation -&gt; impact -&gt; constraint check -&gt; recommendation -&gt; human approval -&gt; SAP action. Each agent has one job and a guardrail: deterministic code sets every quantity and cost, the LLM explains, and nothing is written to SAP before approval."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 (1 min) - Trust and control: what a CIO actually worries about.</a:t>
            </a:r>
          </a:p>
          <a:p>
            <a:r>
              <a:t>"The AI never moves inventory on its own. Models do the maths, the LLM explains, a planner approves every action and larger ones escalate. Every decision is audit-logged. SAP is reached only through allow-listed tools; identity, observability and security are in from day one. It is model- and cloud-agnostic - AWS and Azure references are in the appendix."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 (2 min) - Show it working; switch to the live app if possible (http://localhost:8502).</a:t>
            </a:r>
          </a:p>
          <a:p>
            <a:r>
              <a:t>"In the backtest, forecast error drops from 13.5% (current plan) to 8.5% - about 37% better, in line with the 35% -&gt; 22% industry assumption. For EPX-200 in APAC the agents find the spike, trace it to the customer driving it, check stock and capacity and propose a plan costing $73,240 that protects $375,900 - about $302,660 net. It is over $50k, so it routes to the S&amp;OP Lead."</a:t>
            </a:r>
          </a:p>
          <a:p>
            <a:r>
              <a:t>Demo tip: approve as a planner first to show the authority block, then as the S&amp;OP Lead.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 - Lead time 27.6 -&gt; 4.3 days; PCE 3.7% -&gt; 21%.</a:t>
            </a:r>
          </a:p>
          <a:p>
            <a:r>
              <a:t>Present every dollar figure as a planning assumption the POC validates against the client's own SAP history - that builds credibility. Forecast accuracy is the enabler; the money comes from fewer stockouts, less E&amp;O and less premium freight, plus planner time redeployed.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 (30 sec) - End with a decision.</a:t>
            </a:r>
          </a:p>
          <a:p>
            <a:r>
              <a:t>"We are asking for an 8-week POC on one product family, in shadow mode next to S&amp;OP, with real SAP/IBP data. Success means at least 20% better forecast error, detection-to-action under a week, and planners accepting at least 60% of recommendations. If it hits those, wave 1 scales and wave 2 starts."</a:t>
            </a:r>
          </a:p>
          <a:p>
            <a:r>
              <a:t>Requests: business sponsor + demand-planning lead, SAP/IBP extracts, a sandbox, choice of LLM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 - One loop today, a governed autonomous-with-oversight supply chain over 24 months.</a:t>
            </a:r>
          </a:p>
          <a:p>
            <a:r>
              <a:t>Each wave reuses the same platform (feature store, orchestrator, approval and audit services), so cost per use case falls. Auto-approval of low-value actions comes only in the last phase, within policy.</a:t>
            </a:r>
          </a:p>
          <a:p>
            <a:r>
              <a:t>Expected questions: data readiness (opportunity map 'Data required'); SAP integration (allow-listed MCP tools over SAP BTP); AI errors (recommends, never decides; edits and rejections tracked); benefits (validated in POC weeks 1-2).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actually runs today. Same agents and code path as production; only the platform services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 AWS deployment. Client-cloud agnostic: the same container images, agent graph and MCP tool contracts deploy to either cloud; only managed services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 Azure deployment. Client-cloud agnostic: the same container images, agent graph and MCP tool contracts deploy to either cloud; only managed services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Enterprise reference architecture for an agentic AI platform on AWS: users, identity, network, edge, auth, application layer (FastAPI, LangGraph agents, MCP server), data access (PostgreSQL + secrets), enterprise systems via MCP tools, ingestion/RAG, semantic layer, LLM governance, human-in-the-loop, MLOps, observability and cross-cutting services. Our agents slot into the LangGraph and MCP containers.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Enterprise reference architecture for an agentic AI platform on Azure: users, identity, network, edge, auth, application layer (FastAPI, LangGraph agents, MCP server), data access (PostgreSQL + secrets), enterprise systems via MCP tools, ingestion/RAG, semantic layer, LLM governance, human-in-the-loop, MLOps, observability and cross-cutting services. Our agents slot into the LangGraph and MCP containers.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9D8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A5F"/>
                </a:solidFill>
              </a:defRPr>
            </a:pPr>
            <a:r>
              <a:t>From forecasts to actions: demand sensing with an agentic response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</a:defRPr>
            </a:pPr>
            <a:r>
              <a:t>AI for Demand &amp; Distribution · FDE client challenge · synthetic data, stated assumptions   |  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2103120" cy="96012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28 → 4 d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signal-to-action lead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325880"/>
            <a:ext cx="2103120" cy="96012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13.5% → 8.5%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4-wk WMAPE (synthetic backtest)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325880"/>
            <a:ext cx="2103120" cy="96012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3.7% → 21%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process cycle efficiency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325880"/>
            <a:ext cx="2103120" cy="96012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7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use cases mapped &amp; prioritised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1325880"/>
            <a:ext cx="2103120" cy="96012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100%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ERP actions human-approved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11247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222222"/>
                </a:solidFill>
              </a:rPr>
              <a:t>• Problem: </a:t>
            </a:r>
            <a:r>
              <a:rPr sz="1500">
                <a:solidFill>
                  <a:srgbClr val="222222"/>
                </a:solidFill>
              </a:rPr>
              <a:t>deviations from plan are found at the monthly S&amp;OP, 3-4 weeks late; planners spend 70% of their time collecting and reconciling data.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222222"/>
                </a:solidFill>
              </a:rPr>
              <a:t>• Opportunity map: </a:t>
            </a:r>
            <a:r>
              <a:rPr sz="1500">
                <a:solidFill>
                  <a:srgbClr val="222222"/>
                </a:solidFill>
              </a:rPr>
              <a:t>7 use cases scored on value × feasibility; demand sensing + agentic response leads wave 1 and is the data foundation for inventory optimisation and stockout prediction.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222222"/>
                </a:solidFill>
              </a:rPr>
              <a:t>• Prototype (working): </a:t>
            </a:r>
            <a:r>
              <a:rPr sz="1500">
                <a:solidFill>
                  <a:srgbClr val="222222"/>
                </a:solidFill>
              </a:rPr>
              <a:t>orders + inventory + capacity + PMI/Brent/construction → sensing model → Deviation → Impact → Constraint → Recommender agents → planner approval → SAP STO / planned order / IBP update (mocked).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222222"/>
                </a:solidFill>
              </a:rPr>
              <a:t>• Ask: </a:t>
            </a:r>
            <a:r>
              <a:rPr sz="1500">
                <a:solidFill>
                  <a:srgbClr val="222222"/>
                </a:solidFill>
              </a:rPr>
              <a:t>8-week POC on one product family across two regions with real SAP/IBP extracts, run in shadow mode next to the S&amp;OP process.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9D8F"/>
                </a:solidFill>
              </a:defRPr>
            </a:pPr>
            <a:r>
              <a:t>PROBLEM &amp; CURRENT PROCESS · LEAN VSM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A5F"/>
                </a:solidFill>
              </a:defRPr>
            </a:pPr>
            <a:r>
              <a:t>Current process: deviations wait for the monthly S&amp;OP (PCE 3.7%)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</a:defRPr>
            </a:pPr>
            <a:r>
              <a:t>AI for Demand &amp; Distribution · FDE client challenge · synthetic data, stated assumptions   |   2</a:t>
            </a:r>
          </a:p>
        </p:txBody>
      </p:sp>
      <p:pic>
        <p:nvPicPr>
          <p:cNvPr id="6" name="Picture 5" descr="a2_vsm_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540" y="1143000"/>
            <a:ext cx="10006438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9D8F"/>
                </a:solidFill>
              </a:defRPr>
            </a:pPr>
            <a:r>
              <a:t>OPPORTUNITY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A5F"/>
                </a:solidFill>
              </a:defRPr>
            </a:pPr>
            <a:r>
              <a:t>Use-case opportunity map: 7 opportunities, each tied to a KPI and an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</a:defRPr>
            </a:pPr>
            <a:r>
              <a:t>AI for Demand &amp; Distribution · FDE client challenge · synthetic data, stated assumptions   |  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43000"/>
          <a:ext cx="11658598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2209"/>
                <a:gridCol w="1895707"/>
                <a:gridCol w="2085278"/>
                <a:gridCol w="1895707"/>
                <a:gridCol w="2464419"/>
                <a:gridCol w="2085278"/>
              </a:tblGrid>
              <a:tr h="651510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Use case</a:t>
                      </a:r>
                    </a:p>
                  </a:txBody>
                  <a:tcPr marL="45720" marR="45720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Business problem</a:t>
                      </a:r>
                    </a:p>
                  </a:txBody>
                  <a:tcPr marL="45720" marR="45720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AI / agent approach</a:t>
                      </a:r>
                    </a:p>
                  </a:txBody>
                  <a:tcPr marL="45720" marR="45720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Data required</a:t>
                      </a:r>
                    </a:p>
                  </a:txBody>
                  <a:tcPr marL="45720" marR="45720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Action → human involvement</a:t>
                      </a:r>
                    </a:p>
                  </a:txBody>
                  <a:tcPr marL="45720" marR="45720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KPI · expected benefit (assumption)</a:t>
                      </a:r>
                    </a:p>
                  </a:txBody>
                  <a:tcPr marL="45720" marR="45720" marT="18288" marB="18288">
                    <a:solidFill>
                      <a:srgbClr val="1F3A5F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UC1 Demand sensing + agentic response (wave 1)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Monthly statistical forecast misses short-term shifts; deviations found weeks late causing stockouts in one region and excess in another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Gradient-boosted demand-sensing model with external signals + agents that detect deviations and size impact and propose production/distribution actions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Order history, open orders, shipments, inventory, capacity, customer promos, PMI, oil/feedstock price, weather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Recommend stock transfer / production reschedule / allocation and create SAP STO or planned order after approval → Planner approves or edits every action; S&amp;OP lead approves above value threshold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Forecast MAPE, detection-to-action lead time, OTIF, expedite cost · MAPE 35%-&gt;22%; detection lag 27d-&gt;4d; ~$12-18M/yr margin protected (assumption)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UC2 Stockout / excess inventory prediction (wave 1)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Planners discover stockouts and slow-moving stock only after the fact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Classification model on projected inventory (forecast vs supply) per SKU-location with 4-8 week horizon + alert agent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Inventory positions, forecast, open POs/production orders, lead times, shelf life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Ranked risk list with recommended rebalancing / promotion of aged stock → Planner validates top risks weekly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Stockout incidents, excess &amp; obsolete value, inventory turns · Stockouts -30%; E&amp;O -15% (~$6-9M/yr, assumption)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UC3 Inventory optimization (multi-echelon safety stock) (wave 2)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Safety stocks set by rule of thumb; high working capital yet service gaps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Probabilistic multi-echelon optimisation using forecast error distributions; agent proposes parameter changes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Demand history &amp; forecast error, lead-time variability, service targets, network structure, costs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Updates safety stock / reorder points in SAP (MRP parameters) after approval → Supply chain manager approves parameter changes per family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Inventory days, fill rate, working capital · Inventory -10-15% (~$40-60M one-off WC release; assumption)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UC4 Shipment exception management (wave 2)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Late / at-risk shipments found via customer complaints; manual carrier chasing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Agent monitors TMS / carrier events + ETA prediction; drafts recovery options and customer notices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TMS events, carrier tracking, orders, customer priority, weather/port data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Rebooks carrier / reroutes / notifies customer with revised ETA → CSR approves customer communication and premium freight above threshold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OTIF, premium freight cost, exception handling time · OTIF +5 pts; premium freight -20% (~$4-6M/yr, assumption)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UC7 Invoice / AP automation (3-way match) (wave 2)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High manual effort matching supplier invoices to POs and GRs; late-payment penalties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Document intelligence + LLM agent for extraction, matching and exception reasoning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Invoices (PDF/EDI), POs, goods receipts, vendor master, contracts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Auto-posts matched invoices; routes exceptions with suggested resolution → AP clerk resolves exceptions; approver signs payment runs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Touchless rate, cost per invoice, cycle time · Touchless 30%-&gt;75%; ~$2-3M/yr (assumption)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UC5 Distribution / lane optimization (wave 3)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Static DC assignments and lane choices; rising freight cost per tonne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Optimisation (MILP) of source-DC-customer assignment and mode/lane mix with agent explaining trade-offs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Shipments, freight rates, DC capacity, customer locations, service levels, hazmat constraints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Proposes revised sourcing rules and lane plan for next quarter → Logistics head approves network changes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Freight cost per tonne, cost-to-serve, service level · Freight -5-8% on ~$400M spend (~$20-30M/yr, assumption)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UC6 Supply / feedstock disruption prediction (wave 3)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Feedstock and supplier disruptions hit production with little warning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Risk-scoring model on supplier performance + news/geo-risk signals; agent proposes alternate sourcing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Supplier OTIF, POs, news/geo-risk feeds, weather, commodity prices, BOMs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Early warning + alternate supplier / safety stock pre-build recommendation → Procurement category manager decides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22222"/>
                          </a:solidFill>
                        </a:defRPr>
                      </a:pPr>
                      <a:r>
                        <a:t>Disruption-days avoided, production loss, expedite cost · ~$5-10M/yr avoided losses (assumption; data dependent)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9D8F"/>
                </a:solidFill>
              </a:defRPr>
            </a:pPr>
            <a:r>
              <a:t>PRIORITISATION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A5F"/>
                </a:solidFill>
              </a:defRPr>
            </a:pPr>
            <a:r>
              <a:t>Prioritisation: demand sensing first - fixes the #1 bottleneck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</a:defRPr>
            </a:pPr>
            <a:r>
              <a:t>AI for Demand &amp; Distribution · FDE client challenge · synthetic data, stated assumptions   |   4</a:t>
            </a:r>
          </a:p>
        </p:txBody>
      </p:sp>
      <p:pic>
        <p:nvPicPr>
          <p:cNvPr id="6" name="Picture 5" descr="a2_opportun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51381"/>
            <a:ext cx="5120639" cy="4080916"/>
          </a:xfrm>
          <a:prstGeom prst="rect">
            <a:avLst/>
          </a:prstGeom>
        </p:spPr>
      </p:pic>
      <p:pic>
        <p:nvPicPr>
          <p:cNvPr id="7" name="Picture 6" descr="a2_a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3335" y="1188720"/>
            <a:ext cx="6275489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0" y="4846320"/>
            <a:ext cx="6309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22222"/>
                </a:solidFill>
              </a:rPr>
              <a:t>• Wave 1 (POC): </a:t>
            </a:r>
            <a:r>
              <a:rPr sz="1200">
                <a:solidFill>
                  <a:srgbClr val="222222"/>
                </a:solidFill>
              </a:rPr>
              <a:t>UC1 demand sensing + agentic response, UC2 stockout/excess prediction (same data).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222222"/>
                </a:solidFill>
              </a:rPr>
              <a:t>• Wave 2: </a:t>
            </a:r>
            <a:r>
              <a:rPr sz="1200">
                <a:solidFill>
                  <a:srgbClr val="222222"/>
                </a:solidFill>
              </a:rPr>
              <a:t>UC3 inventory optimisation, UC4 shipment exceptions, UC7 invoice automation (quick win).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222222"/>
                </a:solidFill>
              </a:rPr>
              <a:t>• Wave 3: </a:t>
            </a:r>
            <a:r>
              <a:rPr sz="1200">
                <a:solidFill>
                  <a:srgbClr val="222222"/>
                </a:solidFill>
              </a:rPr>
              <a:t>UC5 network/lane optimisation, UC6 supply disruption prediction.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9D8F"/>
                </a:solidFill>
              </a:defRPr>
            </a:pPr>
            <a:r>
              <a:t>PROPOSED AI / AGENT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A5F"/>
                </a:solidFill>
              </a:defRPr>
            </a:pPr>
            <a:r>
              <a:t>Solution: an agent loop that turns a demand signal into an approved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</a:defRPr>
            </a:pPr>
            <a:r>
              <a:t>AI for Demand &amp; Distribution · FDE client challenge · synthetic data, stated assumptions   |   5</a:t>
            </a:r>
          </a:p>
        </p:txBody>
      </p:sp>
      <p:pic>
        <p:nvPicPr>
          <p:cNvPr id="6" name="Picture 5" descr="a2_agen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726" y="1143000"/>
            <a:ext cx="9130066" cy="292608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4160520"/>
          <a:ext cx="1124711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399"/>
                <a:gridCol w="7222921"/>
                <a:gridCol w="2682799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 marL="45720" marR="45720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Does</a:t>
                      </a:r>
                    </a:p>
                  </a:txBody>
                  <a:tcPr marL="45720" marR="45720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Guardrail</a:t>
                      </a:r>
                    </a:p>
                  </a:txBody>
                  <a:tcPr marL="45720" marR="45720" marT="18288" marB="18288"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Deviation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Flags SKU×region where sensed demand vs plan &gt; 15% (or actuals &gt; 20%, |z| &gt; 1.5); ranks by margin at stake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Thresholds configurable, logged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Drills to customers driving the change; flags anomalies (e.g. -86% outage)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Facts only; narrative from data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Constraint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DC stock, in-transit, safety stock, other DCs' surplus, plant free capacity, lanes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Deterministic maths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Recommender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Costs transfer / pull-forward / expedite / allocation; least-cost plan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LLM explains, never sets qty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Executor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STO, planned order, aATP allocation, IBP key figure, notifications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Only after approval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9D8F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A5F"/>
                </a:solidFill>
              </a:defRPr>
            </a:pPr>
            <a:r>
              <a:t>Architecture: SAP-integrated, ML + LLM, human-approved writes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</a:defRPr>
            </a:pPr>
            <a:r>
              <a:t>AI for Demand &amp; Distribution · FDE client challenge · synthetic data, stated assumptions   |   6</a:t>
            </a:r>
          </a:p>
        </p:txBody>
      </p:sp>
      <p:pic>
        <p:nvPicPr>
          <p:cNvPr id="6" name="Picture 5" descr="a2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620" y="1097280"/>
            <a:ext cx="9372279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9D8F"/>
                </a:solidFill>
              </a:defRPr>
            </a:pPr>
            <a:r>
              <a:t>WORKING PROTOTYPE · STREAMLIT RUN A2_CHEM_DEMAND/APP.PY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A5F"/>
                </a:solidFill>
              </a:defRPr>
            </a:pPr>
            <a:r>
              <a:t>Demo: EPX-200 epoxy resin in APAC, from signal to SAP in one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</a:defRPr>
            </a:pPr>
            <a:r>
              <a:t>AI for Demand &amp; Distribution · FDE client challenge · synthetic data, stated assumptions   |   7</a:t>
            </a:r>
          </a:p>
        </p:txBody>
      </p:sp>
      <p:pic>
        <p:nvPicPr>
          <p:cNvPr id="6" name="Picture 5" descr="a2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71545"/>
            <a:ext cx="5943600" cy="2594668"/>
          </a:xfrm>
          <a:prstGeom prst="rect">
            <a:avLst/>
          </a:prstGeom>
        </p:spPr>
      </p:pic>
      <p:pic>
        <p:nvPicPr>
          <p:cNvPr id="7" name="Picture 6" descr="a2_impact_pl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95403"/>
            <a:ext cx="5669280" cy="19469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931920"/>
            <a:ext cx="11247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22222"/>
                </a:solidFill>
              </a:rPr>
              <a:t>• Detect: </a:t>
            </a:r>
            <a:r>
              <a:rPr sz="1200">
                <a:solidFill>
                  <a:srgbClr val="222222"/>
                </a:solidFill>
              </a:rPr>
              <a:t>sensed next-4-week demand +36% vs frozen plan; actuals last 4 weeks +69% (z=+3.5).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222222"/>
                </a:solidFill>
              </a:rPr>
              <a:t>• Impact: </a:t>
            </a:r>
            <a:r>
              <a:rPr sz="1200">
                <a:solidFill>
                  <a:srgbClr val="222222"/>
                </a:solidFill>
              </a:rPr>
              <a:t>Pacific Coatings drives 79% of the change; revenue exposure $755,914.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222222"/>
                </a:solidFill>
              </a:rPr>
              <a:t>• Constraints: </a:t>
            </a:r>
            <a:r>
              <a:rPr sz="1200">
                <a:solidFill>
                  <a:srgbClr val="222222"/>
                </a:solidFill>
              </a:rPr>
              <a:t>DC-Singapore covers 2.0 weeks; gap 752 t vs safety stock; Rotterdam has surplus, Jurong has free capacity.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222222"/>
                </a:solidFill>
              </a:rPr>
              <a:t>• Recommend: </a:t>
            </a:r>
            <a:r>
              <a:rPr sz="1200">
                <a:solidFill>
                  <a:srgbClr val="222222"/>
                </a:solidFill>
              </a:rPr>
              <a:t>transfer + pull-forward + expedite + allocation: cost $73,240 vs $375,900 margin protected.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222222"/>
                </a:solidFill>
              </a:rPr>
              <a:t>• Approve &amp; act: </a:t>
            </a:r>
            <a:r>
              <a:rPr sz="1200">
                <a:solidFill>
                  <a:srgbClr val="222222"/>
                </a:solidFill>
              </a:rPr>
              <a:t>routed to S&amp;OP Lead (&gt; $50k); a planner without authority is blocked; approval creates SAP STO, planned order and IBP update (mocked) plus a notification.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9D8F"/>
                </a:solidFill>
              </a:defRPr>
            </a:pPr>
            <a:r>
              <a:t>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A5F"/>
                </a:solidFill>
              </a:defRPr>
            </a:pPr>
            <a:r>
              <a:t>Business impact: before vs after (assumptions stated)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</a:defRPr>
            </a:pPr>
            <a:r>
              <a:t>AI for Demand &amp; Distribution · FDE client challenge · synthetic data, stated assumptions   |   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5760718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37"/>
                <a:gridCol w="900112"/>
                <a:gridCol w="900112"/>
                <a:gridCol w="1260157"/>
              </a:tblGrid>
              <a:tr h="3886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KPI</a:t>
                      </a:r>
                    </a:p>
                  </a:txBody>
                  <a:tcPr marL="45720" marR="45720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Before</a:t>
                      </a:r>
                    </a:p>
                  </a:txBody>
                  <a:tcPr marL="45720" marR="45720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After</a:t>
                      </a:r>
                    </a:p>
                  </a:txBody>
                  <a:tcPr marL="45720" marR="45720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marL="45720" marR="45720" marT="18288" marB="18288">
                    <a:solidFill>
                      <a:srgbClr val="1F3A5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Lead time (days)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27.6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4.3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-84%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Touch time per unit (h)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28.75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10.5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-63%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NVA touch (h)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20.5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3.25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-84%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Wait (h)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192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24.0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-88%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PCE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3.7%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21.0%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5.6x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Steps over takt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bottlenecks removed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Capacity (units/month, bottleneck-bound)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235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+161%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234440"/>
          <a:ext cx="5303518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377439"/>
                <a:gridCol w="914399"/>
              </a:tblGrid>
              <a:tr h="4724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Lever</a:t>
                      </a:r>
                    </a:p>
                  </a:txBody>
                  <a:tcPr marL="45720" marR="45720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Impact (assumption)</a:t>
                      </a:r>
                    </a:p>
                  </a:txBody>
                  <a:tcPr marL="45720" marR="45720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Annual value</a:t>
                      </a:r>
                    </a:p>
                  </a:txBody>
                  <a:tcPr marL="45720" marR="45720" marT="18288" marB="18288">
                    <a:solidFill>
                      <a:srgbClr val="1F3A5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Forecast error (4-wk WMAPE)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13.5% → 8.5% synthetic; 35% → 22% client assumption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enabler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Stockouts avoided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−30% lost-sales incidents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$6-9M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Excess &amp; obsolete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−15% E&amp;O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$3-5M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Expedite / premium freight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−20%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$4-6M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Planner productivity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NVA 20.5 → 3.3 h per exception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~6 FTE redeployed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57200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22222"/>
                </a:solidFill>
              </a:rPr>
              <a:t>• Assumptions: </a:t>
            </a:r>
            <a:r>
              <a:rPr sz="1200">
                <a:solidFill>
                  <a:srgbClr val="222222"/>
                </a:solidFill>
              </a:rPr>
              <a:t>$5B revenue manufacturer, ~120 significant demand exceptions/month, 12 SKUs × 4 regions in the prototype; step times mocked; benefits ranges to be validated with the client's SAP history in POC weeks 1-2.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222222"/>
                </a:solidFill>
              </a:rPr>
              <a:t>• Measured in prototype: </a:t>
            </a:r>
            <a:r>
              <a:rPr sz="1200">
                <a:solidFill>
                  <a:srgbClr val="222222"/>
                </a:solidFill>
              </a:rPr>
              <a:t>backtest WMAPE over 16 weekly origins on synthetic data (sensing vs frozen plan vs 13-week moving average).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9D8F"/>
                </a:solidFill>
              </a:defRPr>
            </a:pPr>
            <a:r>
              <a:t>POC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A5F"/>
                </a:solidFill>
              </a:defRPr>
            </a:pPr>
            <a:r>
              <a:t>POC: 8 weeks, one product family, two regions, shadow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</a:defRPr>
            </a:pPr>
            <a:r>
              <a:t>AI for Demand &amp; Distribution · FDE client challenge · synthetic data, stated assumptions   |   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6949438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667"/>
                <a:gridCol w="4098387"/>
                <a:gridCol w="2227384"/>
              </a:tblGrid>
              <a:tr h="5029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Weeks</a:t>
                      </a:r>
                    </a:p>
                  </a:txBody>
                  <a:tcPr marL="45720" marR="45720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Milestone</a:t>
                      </a:r>
                    </a:p>
                  </a:txBody>
                  <a:tcPr marL="45720" marR="45720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Exit criteria</a:t>
                      </a:r>
                    </a:p>
                  </a:txBody>
                  <a:tcPr marL="45720" marR="45720" marT="18288" marB="18288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0-1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Mobilise; SAP/IBP extracts (3 yrs orders, stock, capacity); VSM baseline with planners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Data contract + baseline KPIs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2-3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Feature pipeline + external signals; sensing model + backtest vs current plan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≥20% WMAPE improvement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4-5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Agents + planner cockpit + Teams approval; SAP sandbox (STO / planned order)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End-to-end on 10 historical events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6-7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Shadow mode next to weekly planning; capture accept/edit/reject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≥60% recommendations accepted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Readout: value case, scale plan to all families/regions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Go / no-go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589520" y="1234440"/>
            <a:ext cx="4114800" cy="1417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300" b="1">
                <a:solidFill>
                  <a:srgbClr val="1F3A5F"/>
                </a:solidFill>
              </a:defRPr>
            </a:pPr>
            <a:r>
              <a:t>Team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FDE lead · data scientist · 2 AI/data engineers ·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SAP integration (0.5) · client: demand planning lead,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S&amp;OP owner, IT/SAP basis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2788920"/>
            <a:ext cx="4114800" cy="1417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300" b="1">
                <a:solidFill>
                  <a:srgbClr val="1F3A5F"/>
                </a:solidFill>
              </a:defRPr>
            </a:pPr>
            <a:r>
              <a:t>Data required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Orders/shipments, inventory by DC, production plans &amp;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capacity, lanes &amp; freight rates, promos, PMI/feedstock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434840"/>
            <a:ext cx="5577840" cy="17830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300" b="1">
                <a:solidFill>
                  <a:srgbClr val="1F3A5F"/>
                </a:solidFill>
              </a:defRPr>
            </a:pPr>
            <a:r>
              <a:t>KPIs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WMAPE &amp; bias · detection lag · alert precision ·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acceptance rate · OTIF · expedite cost · planner hours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434840"/>
            <a:ext cx="5532120" cy="17830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300" b="1">
                <a:solidFill>
                  <a:srgbClr val="E76F51"/>
                </a:solidFill>
              </a:defRPr>
            </a:pPr>
            <a:r>
              <a:t>Risks &amp; mitigations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Data quality / master data → profiling in week 1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SAP access → sandbox + mocked APIs first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Planner trust → explain every alert, edit before approve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Scope creep → one family, two regions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9D8F"/>
                </a:solidFill>
              </a:defRPr>
            </a:pPr>
            <a:r>
              <a:t>PRODUCTION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A5F"/>
                </a:solidFill>
              </a:defRPr>
            </a:pPr>
            <a:r>
              <a:t>Production roadmap: from one loop to an autonomous-with-oversight supply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</a:defRPr>
            </a:pPr>
            <a:r>
              <a:t>AI for Demand &amp; Distribution · FDE client challenge · synthetic data, stated assumptions   | 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2697480" cy="2286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400" b="1">
                <a:solidFill>
                  <a:srgbClr val="1F3A5F"/>
                </a:solidFill>
              </a:defRPr>
            </a:pPr>
            <a:r>
              <a:t>POC · wks 1-8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Epoxy family × APAC/EU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Shadow mode, value case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280160"/>
            <a:ext cx="2697480" cy="2286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400" b="1">
                <a:solidFill>
                  <a:srgbClr val="1F3A5F"/>
                </a:solidFill>
              </a:defRPr>
            </a:pPr>
            <a:r>
              <a:t>MVP · months 3-6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All families in 2 regions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Live SAP writes after approval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UC2 stockout/excess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280160"/>
            <a:ext cx="2697480" cy="2286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400" b="1">
                <a:solidFill>
                  <a:srgbClr val="1F3A5F"/>
                </a:solidFill>
              </a:defRPr>
            </a:pPr>
            <a:r>
              <a:t>Scale · months 6-12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Global; UC3 inventory optimisation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UC4 shipment exceptions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UC7 invoice automation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280160"/>
            <a:ext cx="2697480" cy="2286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400" b="1">
                <a:solidFill>
                  <a:srgbClr val="1F3A5F"/>
                </a:solidFill>
              </a:defRPr>
            </a:pPr>
            <a:r>
              <a:t>Transform · 12-24 months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UC5 network optimisation, UC6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supply risk; auto-approve low-value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actions within policy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222222"/>
                </a:solidFill>
              </a:rPr>
              <a:t>• Platform: </a:t>
            </a:r>
            <a:r>
              <a:rPr sz="1300">
                <a:solidFill>
                  <a:srgbClr val="222222"/>
                </a:solidFill>
              </a:rPr>
              <a:t>shared feature store + MLflow, agent orchestrator, approval and audit services reused by every use case.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222222"/>
                </a:solidFill>
              </a:rPr>
              <a:t>• Governance: </a:t>
            </a:r>
            <a:r>
              <a:rPr sz="1300">
                <a:solidFill>
                  <a:srgbClr val="222222"/>
                </a:solidFill>
              </a:rPr>
              <a:t>action-value thresholds by role, weekly model performance review, audit trail of every ERP write.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222222"/>
                </a:solidFill>
              </a:rPr>
              <a:t>• Next steps: </a:t>
            </a:r>
            <a:r>
              <a:rPr sz="1300">
                <a:solidFill>
                  <a:srgbClr val="222222"/>
                </a:solidFill>
              </a:rPr>
              <a:t>confirm POC scope and sponsor · SAP/IBP extract request · planner workshop for the VSM baseline.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66360"/>
            <a:ext cx="11247120" cy="1143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200" b="1">
                <a:solidFill>
                  <a:srgbClr val="6C757D"/>
                </a:solidFill>
              </a:defRPr>
            </a:pPr>
            <a:r>
              <a:t>Assumptions &amp; synthetic data</a:t>
            </a:r>
          </a:p>
          <a:p>
            <a:pPr>
              <a:defRPr sz="1000">
                <a:solidFill>
                  <a:srgbClr val="222222"/>
                </a:solidFill>
              </a:defRPr>
            </a:pPr>
            <a:r>
              <a:t>104 weeks of synthetic orders (12 SKUs × 4 regions × 12 customers), PMI/Brent/construction signals, DC inventory, plant capacity and lanes, with two injected events (APAC epoxy project ramp; EU PVC outage). VSM step times mocked; financial benefits are ranges for a ~$5B manufacturer. SAP/IBP calls are mocked payloads.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9D8F"/>
                </a:solidFill>
              </a:defRPr>
            </a:pPr>
            <a:r>
              <a:t>APPENDIX ·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A5F"/>
                </a:solidFill>
              </a:defRPr>
            </a:pPr>
            <a:r>
              <a:t>Appendix A · POC deployment today: Docker Compose with a local GPU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</a:defRPr>
            </a:pPr>
            <a:r>
              <a:t>AI for Demand &amp; Distribution · FDE client challenge · synthetic data, stated assumptions   |   11</a:t>
            </a:r>
          </a:p>
        </p:txBody>
      </p:sp>
      <p:pic>
        <p:nvPicPr>
          <p:cNvPr id="6" name="Picture 5" descr="poc_deplo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49612"/>
            <a:ext cx="11612879" cy="50445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9D8F"/>
                </a:solidFill>
              </a:defRPr>
            </a:pPr>
            <a:r>
              <a:t>APPENDIX ·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A5F"/>
                </a:solidFill>
              </a:defRPr>
            </a:pPr>
            <a:r>
              <a:t>Appendix B · AWS production deployment: agents, MCP server, PostgreSQL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</a:defRPr>
            </a:pPr>
            <a:r>
              <a:t>AI for Demand &amp; Distribution · FDE client challenge · synthetic data, stated assumptions   |   12</a:t>
            </a:r>
          </a:p>
        </p:txBody>
      </p:sp>
      <p:pic>
        <p:nvPicPr>
          <p:cNvPr id="6" name="Picture 5" descr="a2_deploy_a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564" y="1097280"/>
            <a:ext cx="1097039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9D8F"/>
                </a:solidFill>
              </a:defRPr>
            </a:pPr>
            <a:r>
              <a:t>APPENDIX ·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A5F"/>
                </a:solidFill>
              </a:defRPr>
            </a:pPr>
            <a:r>
              <a:t>Appendix C · Azure production deployment: agents, MCP server, PostgreSQL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</a:defRPr>
            </a:pPr>
            <a:r>
              <a:t>AI for Demand &amp; Distribution · FDE client challenge · synthetic data, stated assumptions   |   13</a:t>
            </a:r>
          </a:p>
        </p:txBody>
      </p:sp>
      <p:pic>
        <p:nvPicPr>
          <p:cNvPr id="6" name="Picture 5" descr="a2_deploy_az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564" y="1097280"/>
            <a:ext cx="1097039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9D8F"/>
                </a:solidFill>
              </a:defRPr>
            </a:pPr>
            <a:r>
              <a:t>APPENDIX · REFERENCE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A5F"/>
                </a:solidFill>
              </a:defRPr>
            </a:pPr>
            <a:r>
              <a:t>Appendix D · Reference platform: AWS agentic AI with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</a:defRPr>
            </a:pPr>
            <a:r>
              <a:t>AI for Demand &amp; Distribution · FDE client challenge · synthetic data, stated assumptions   |   14</a:t>
            </a:r>
          </a:p>
        </p:txBody>
      </p:sp>
      <p:pic>
        <p:nvPicPr>
          <p:cNvPr id="6" name="Picture 5" descr="ref_aws_agentic_plat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39" y="1097280"/>
            <a:ext cx="1060704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9D8F"/>
                </a:solidFill>
              </a:defRPr>
            </a:pPr>
            <a:r>
              <a:t>APPENDIX · REFERENCE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A5F"/>
                </a:solidFill>
              </a:defRPr>
            </a:pPr>
            <a:r>
              <a:t>Appendix E · Reference platform: Azure agentic AI with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</a:defRPr>
            </a:pPr>
            <a:r>
              <a:t>AI for Demand &amp; Distribution · FDE client challenge · synthetic data, stated assumptions   |   15</a:t>
            </a:r>
          </a:p>
        </p:txBody>
      </p:sp>
      <p:pic>
        <p:nvPicPr>
          <p:cNvPr id="6" name="Picture 5" descr="ref_azure_agentic_plat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39" y="1097280"/>
            <a:ext cx="10607040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
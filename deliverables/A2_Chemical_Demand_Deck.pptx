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Data required per use case is in a2_chem_demand/data/opportunities.csv and the app's Opportunity map tab.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From forecasts to actions: demand sensing with an agentic response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AI for Demand &amp; Distribution · FDE client challenge · synthetic data, stated assumptions   |  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2103120" cy="96012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28 → 4 d</a:t>
            </a:r>
          </a:p>
          <a:p>
            <a:pPr algn="ctr">
              <a:defRPr sz="1000">
                <a:solidFill>
                  <a:srgbClr val="FFFFFF"/>
                </a:solidFill>
              </a:defRPr>
            </a:pPr>
            <a:r>
              <a:t>signal-to-action lead time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0" y="1325880"/>
            <a:ext cx="2103120" cy="96012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13.5% → 8.5%</a:t>
            </a:r>
          </a:p>
          <a:p>
            <a:pPr algn="ctr">
              <a:defRPr sz="1000">
                <a:solidFill>
                  <a:srgbClr val="FFFFFF"/>
                </a:solidFill>
              </a:defRPr>
            </a:pPr>
            <a:r>
              <a:t>4-wk WMAPE (synthetic backtest)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0" y="1325880"/>
            <a:ext cx="2103120" cy="96012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3.7% → 21%</a:t>
            </a:r>
          </a:p>
          <a:p>
            <a:pPr algn="ctr">
              <a:defRPr sz="1000">
                <a:solidFill>
                  <a:srgbClr val="FFFFFF"/>
                </a:solidFill>
              </a:defRPr>
            </a:pPr>
            <a:r>
              <a:t>process cycle efficiency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1325880"/>
            <a:ext cx="2103120" cy="96012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7</a:t>
            </a:r>
          </a:p>
          <a:p>
            <a:pPr algn="ctr">
              <a:defRPr sz="1000">
                <a:solidFill>
                  <a:srgbClr val="FFFFFF"/>
                </a:solidFill>
              </a:defRPr>
            </a:pPr>
            <a:r>
              <a:t>use cases mapped &amp; prioritised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1200" y="1325880"/>
            <a:ext cx="2103120" cy="96012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100%</a:t>
            </a:r>
          </a:p>
          <a:p>
            <a:pPr algn="ctr">
              <a:defRPr sz="1000">
                <a:solidFill>
                  <a:srgbClr val="FFFFFF"/>
                </a:solidFill>
              </a:defRPr>
            </a:pPr>
            <a:r>
              <a:t>ERP actions human-approved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514600"/>
            <a:ext cx="112471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1">
                <a:solidFill>
                  <a:srgbClr val="222222"/>
                </a:solidFill>
              </a:rPr>
              <a:t>• Problem: </a:t>
            </a:r>
            <a:r>
              <a:rPr sz="1500">
                <a:solidFill>
                  <a:srgbClr val="222222"/>
                </a:solidFill>
              </a:rPr>
              <a:t>deviations from plan are found at the monthly S&amp;OP, 3-4 weeks late; planners spend 70% of their time collecting and reconciling data.</a:t>
            </a:r>
          </a:p>
          <a:p>
            <a:pPr>
              <a:spcAft>
                <a:spcPts val="500"/>
              </a:spcAft>
            </a:pPr>
            <a:r>
              <a:rPr sz="1500" b="1">
                <a:solidFill>
                  <a:srgbClr val="222222"/>
                </a:solidFill>
              </a:rPr>
              <a:t>• Opportunity map: </a:t>
            </a:r>
            <a:r>
              <a:rPr sz="1500">
                <a:solidFill>
                  <a:srgbClr val="222222"/>
                </a:solidFill>
              </a:rPr>
              <a:t>7 use cases scored on value × feasibility; demand sensing + agentic response leads wave 1 and is the data foundation for inventory optimisation and stockout prediction.</a:t>
            </a:r>
          </a:p>
          <a:p>
            <a:pPr>
              <a:spcAft>
                <a:spcPts val="500"/>
              </a:spcAft>
            </a:pPr>
            <a:r>
              <a:rPr sz="1500" b="1">
                <a:solidFill>
                  <a:srgbClr val="222222"/>
                </a:solidFill>
              </a:rPr>
              <a:t>• Prototype (working): </a:t>
            </a:r>
            <a:r>
              <a:rPr sz="1500">
                <a:solidFill>
                  <a:srgbClr val="222222"/>
                </a:solidFill>
              </a:rPr>
              <a:t>orders + inventory + capacity + PMI/Brent/construction → sensing model → Deviation → Impact → Constraint → Recommender agents → planner approval → SAP STO / planned order / IBP update (mocked).</a:t>
            </a:r>
          </a:p>
          <a:p>
            <a:pPr>
              <a:spcAft>
                <a:spcPts val="500"/>
              </a:spcAft>
            </a:pPr>
            <a:r>
              <a:rPr sz="1500" b="1">
                <a:solidFill>
                  <a:srgbClr val="222222"/>
                </a:solidFill>
              </a:rPr>
              <a:t>• Ask: </a:t>
            </a:r>
            <a:r>
              <a:rPr sz="1500">
                <a:solidFill>
                  <a:srgbClr val="222222"/>
                </a:solidFill>
              </a:rPr>
              <a:t>8-week POC on one product family across two regions with real SAP/IBP extracts, run in shadow mode next to the S&amp;OP process.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PROBLEM &amp; CURRENT PROCESS · LEAN VSM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Current process: deviations wait for the monthly S&amp;OP (PCE 3.7%)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AI for Demand &amp; Distribution · FDE client challenge · synthetic data, stated assumptions   |   2</a:t>
            </a:r>
          </a:p>
        </p:txBody>
      </p:sp>
      <p:pic>
        <p:nvPicPr>
          <p:cNvPr id="6" name="Picture 5" descr="a2_vsm_b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540" y="1143000"/>
            <a:ext cx="10006438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OPPORTUNITY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Use-case opportunity map: 7 opportunities, each tied to a KPI and an owner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AI for Demand &amp; Distribution · FDE client challenge · synthetic data, stated assumptions   |   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143000"/>
          <a:ext cx="11658598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2209"/>
                <a:gridCol w="1895707"/>
                <a:gridCol w="2085278"/>
                <a:gridCol w="1895707"/>
                <a:gridCol w="2464419"/>
                <a:gridCol w="2085278"/>
              </a:tblGrid>
              <a:tr h="651510"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</a:defRPr>
                      </a:pPr>
                      <a:r>
                        <a:t>Use case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</a:defRPr>
                      </a:pPr>
                      <a:r>
                        <a:t>Business problem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</a:defRPr>
                      </a:pPr>
                      <a:r>
                        <a:t>AI / agent approach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</a:defRPr>
                      </a:pPr>
                      <a:r>
                        <a:t>Data required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</a:defRPr>
                      </a:pPr>
                      <a:r>
                        <a:t>Action → human involvement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</a:defRPr>
                      </a:pPr>
                      <a:r>
                        <a:t>KPI · expected benefit (assumption)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</a:tr>
              <a:tr h="651510"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UC1 Demand sensing + agentic response (wave 1)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Monthly statistical forecast misses short-term shifts; deviations found weeks late causing stockouts in one region and excess in another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Gradient-boosted demand-sensing model with external signals + agents that detect deviations and size impact and propose production/distribution actions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Order history, open orders, shipments, inventory, capacity, customer promos, PMI, oil/feedstock price, weather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Recommend stock transfer / production reschedule / allocation and create SAP STO or planned order after approval → Planner approves or edits every action; S&amp;OP lead approves above value threshold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Forecast MAPE, detection-to-action lead time, OTIF, expedite cost · MAPE 35%-&gt;22%; detection lag 27d-&gt;4d; ~$12-18M/yr margin protected (assumption)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651510"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UC2 Stockout / excess inventory prediction (wave 1)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Planners discover stockouts and slow-moving stock only after the fact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Classification model on projected inventory (forecast vs supply) per SKU-location with 4-8 week horizon + alert agent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Inventory positions, forecast, open POs/production orders, lead times, shelf life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Ranked risk list with recommended rebalancing / promotion of aged stock → Planner validates top risks weekly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Stockout incidents, excess &amp; obsolete value, inventory turns · Stockouts -30%; E&amp;O -15% (~$6-9M/yr, assumption)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651510"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UC3 Inventory optimization (multi-echelon safety stock) (wave 2)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Safety stocks set by rule of thumb; high working capital yet service gaps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Probabilistic multi-echelon optimisation using forecast error distributions; agent proposes parameter changes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Demand history &amp; forecast error, lead-time variability, service targets, network structure, costs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Updates safety stock / reorder points in SAP (MRP parameters) after approval → Supply chain manager approves parameter changes per family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Inventory days, fill rate, working capital · Inventory -10-15% (~$40-60M one-off WC release; assumption)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651510"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UC4 Shipment exception management (wave 2)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Late / at-risk shipments found via customer complaints; manual carrier chasing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Agent monitors TMS / carrier events + ETA prediction; drafts recovery options and customer notices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TMS events, carrier tracking, orders, customer priority, weather/port data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Rebooks carrier / reroutes / notifies customer with revised ETA → CSR approves customer communication and premium freight above threshold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OTIF, premium freight cost, exception handling time · OTIF +5 pts; premium freight -20% (~$4-6M/yr, assumption)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651510"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UC7 Invoice / AP automation (3-way match) (wave 2)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High manual effort matching supplier invoices to POs and GRs; late-payment penalties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Document intelligence + LLM agent for extraction, matching and exception reasoning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Invoices (PDF/EDI), POs, goods receipts, vendor master, contracts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Auto-posts matched invoices; routes exceptions with suggested resolution → AP clerk resolves exceptions; approver signs payment runs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Touchless rate, cost per invoice, cycle time · Touchless 30%-&gt;75%; ~$2-3M/yr (assumption)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651510"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UC5 Distribution / lane optimization (wave 3)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Static DC assignments and lane choices; rising freight cost per tonne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Optimisation (MILP) of source-DC-customer assignment and mode/lane mix with agent explaining trade-offs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Shipments, freight rates, DC capacity, customer locations, service levels, hazmat constraints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Proposes revised sourcing rules and lane plan for next quarter → Logistics head approves network changes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Freight cost per tonne, cost-to-serve, service level · Freight -5-8% on ~$400M spend (~$20-30M/yr, assumption)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651510"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UC6 Supply / feedstock disruption prediction (wave 3)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Feedstock and supplier disruptions hit production with little warning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Risk-scoring model on supplier performance + news/geo-risk signals; agent proposes alternate sourcing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Supplier OTIF, POs, news/geo-risk feeds, weather, commodity prices, BOMs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Early warning + alternate supplier / safety stock pre-build recommendation → Procurement category manager decides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Disruption-days avoided, production loss, expedite cost · ~$5-10M/yr avoided losses (assumption; data dependent)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PRIORITISATION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Prioritisation: demand sensing first - fixes the #1 bottleneck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AI for Demand &amp; Distribution · FDE client challenge · synthetic data, stated assumptions   |   4</a:t>
            </a:r>
          </a:p>
        </p:txBody>
      </p:sp>
      <p:pic>
        <p:nvPicPr>
          <p:cNvPr id="6" name="Picture 5" descr="a2_opportunity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51381"/>
            <a:ext cx="5120639" cy="4080916"/>
          </a:xfrm>
          <a:prstGeom prst="rect">
            <a:avLst/>
          </a:prstGeom>
        </p:spPr>
      </p:pic>
      <p:pic>
        <p:nvPicPr>
          <p:cNvPr id="7" name="Picture 6" descr="a2_ap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3335" y="1188720"/>
            <a:ext cx="6275489" cy="3566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0" y="4846320"/>
            <a:ext cx="6309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1">
                <a:solidFill>
                  <a:srgbClr val="222222"/>
                </a:solidFill>
              </a:rPr>
              <a:t>• Wave 1 (POC): </a:t>
            </a:r>
            <a:r>
              <a:rPr sz="1200">
                <a:solidFill>
                  <a:srgbClr val="222222"/>
                </a:solidFill>
              </a:rPr>
              <a:t>UC1 demand sensing + agentic response, UC2 stockout/excess prediction (same data).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222222"/>
                </a:solidFill>
              </a:rPr>
              <a:t>• Wave 2: </a:t>
            </a:r>
            <a:r>
              <a:rPr sz="1200">
                <a:solidFill>
                  <a:srgbClr val="222222"/>
                </a:solidFill>
              </a:rPr>
              <a:t>UC3 inventory optimisation, UC4 shipment exceptions, UC7 invoice automation (quick win).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222222"/>
                </a:solidFill>
              </a:rPr>
              <a:t>• Wave 3: </a:t>
            </a:r>
            <a:r>
              <a:rPr sz="1200">
                <a:solidFill>
                  <a:srgbClr val="222222"/>
                </a:solidFill>
              </a:rPr>
              <a:t>UC5 network/lane optimisation, UC6 supply disruption prediction.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PROPOSED AI / AGENT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Solution: an agent loop that turns a demand signal into an approved 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AI for Demand &amp; Distribution · FDE client challenge · synthetic data, stated assumptions   |   5</a:t>
            </a:r>
          </a:p>
        </p:txBody>
      </p:sp>
      <p:pic>
        <p:nvPicPr>
          <p:cNvPr id="6" name="Picture 5" descr="a2_agent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5726" y="1143000"/>
            <a:ext cx="9130066" cy="292608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4160520"/>
          <a:ext cx="11247119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1399"/>
                <a:gridCol w="7222921"/>
                <a:gridCol w="2682799"/>
              </a:tblGrid>
              <a:tr h="3657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Agent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Does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Guardrail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Deviation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Flags SKU×region where sensed demand vs plan &gt; 15% (or actuals &gt; 20%, |z| &gt; 1.5); ranks by margin at stake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Thresholds configurable, logged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Impact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Drills to customers driving the change; flags anomalies (e.g. -86% outage)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Facts only; narrative from data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Constraint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DC stock, in-transit, safety stock, other DCs' surplus, plant free capacity, lanes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Deterministic maths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Recommender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Costs transfer / pull-forward / expedite / allocation; least-cost plan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LLM explains, never sets qty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Executor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STO, planned order, aATP allocation, IBP key figure, notifications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Only after approval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Architecture: SAP-integrated, ML + LLM, human-approved writes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AI for Demand &amp; Distribution · FDE client challenge · synthetic data, stated assumptions   |   6</a:t>
            </a:r>
          </a:p>
        </p:txBody>
      </p:sp>
      <p:pic>
        <p:nvPicPr>
          <p:cNvPr id="6" name="Picture 5" descr="a2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4620" y="1097280"/>
            <a:ext cx="9372279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WORKING PROTOTYPE · STREAMLIT RUN A2_CHEM_DEMAND/APP.PY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Demo: EPX-200 epoxy resin in APAC, from signal to SAP in one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AI for Demand &amp; Distribution · FDE client challenge · synthetic data, stated assumptions   |   7</a:t>
            </a:r>
          </a:p>
        </p:txBody>
      </p:sp>
      <p:pic>
        <p:nvPicPr>
          <p:cNvPr id="6" name="Picture 5" descr="a2_forec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71545"/>
            <a:ext cx="5943600" cy="2594668"/>
          </a:xfrm>
          <a:prstGeom prst="rect">
            <a:avLst/>
          </a:prstGeom>
        </p:spPr>
      </p:pic>
      <p:pic>
        <p:nvPicPr>
          <p:cNvPr id="7" name="Picture 6" descr="a2_impact_pl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495403"/>
            <a:ext cx="5669280" cy="194695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3931920"/>
            <a:ext cx="112471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1">
                <a:solidFill>
                  <a:srgbClr val="222222"/>
                </a:solidFill>
              </a:rPr>
              <a:t>• Detect: </a:t>
            </a:r>
            <a:r>
              <a:rPr sz="1200">
                <a:solidFill>
                  <a:srgbClr val="222222"/>
                </a:solidFill>
              </a:rPr>
              <a:t>sensed next-4-week demand +36% vs frozen plan; actuals last 4 weeks +69% (z=+3.5).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222222"/>
                </a:solidFill>
              </a:rPr>
              <a:t>• Impact: </a:t>
            </a:r>
            <a:r>
              <a:rPr sz="1200">
                <a:solidFill>
                  <a:srgbClr val="222222"/>
                </a:solidFill>
              </a:rPr>
              <a:t>Pacific Coatings drives 79% of the change; revenue exposure $755,914.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222222"/>
                </a:solidFill>
              </a:rPr>
              <a:t>• Constraints: </a:t>
            </a:r>
            <a:r>
              <a:rPr sz="1200">
                <a:solidFill>
                  <a:srgbClr val="222222"/>
                </a:solidFill>
              </a:rPr>
              <a:t>DC-Singapore covers 2.0 weeks; gap 752 t vs safety stock; Rotterdam has surplus, Jurong has free capacity.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222222"/>
                </a:solidFill>
              </a:rPr>
              <a:t>• Recommend: </a:t>
            </a:r>
            <a:r>
              <a:rPr sz="1200">
                <a:solidFill>
                  <a:srgbClr val="222222"/>
                </a:solidFill>
              </a:rPr>
              <a:t>transfer + pull-forward + expedite + allocation: cost $73,240 vs $375,900 margin protected.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222222"/>
                </a:solidFill>
              </a:rPr>
              <a:t>• Approve &amp; act: </a:t>
            </a:r>
            <a:r>
              <a:rPr sz="1200">
                <a:solidFill>
                  <a:srgbClr val="222222"/>
                </a:solidFill>
              </a:rPr>
              <a:t>routed to S&amp;OP Lead (&gt; $50k); a planner without authority is blocked; approval creates SAP STO, planned order and IBP update (mocked) plus a notification.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BUSINESS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Business impact: before vs after (assumptions stated)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AI for Demand &amp; Distribution · FDE client challenge · synthetic data, stated assumptions   |   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34440"/>
          <a:ext cx="5760718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0337"/>
                <a:gridCol w="900112"/>
                <a:gridCol w="900112"/>
                <a:gridCol w="1260157"/>
              </a:tblGrid>
              <a:tr h="3886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KPI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Before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After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Change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Lead time (days)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27.6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4.3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-84%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Touch time per unit (h)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28.75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10.5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-63%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NVA touch (h)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20.5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3.25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-84%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Wait (h)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192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24.0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-88%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PCE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3.7%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21.0%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5.6x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Steps over takt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bottlenecks removed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Capacity (units/month, bottleneck-bound)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90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235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+161%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234440"/>
          <a:ext cx="5303518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377439"/>
                <a:gridCol w="914399"/>
              </a:tblGrid>
              <a:tr h="4724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Lever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Impact (assumption)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Annual value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Forecast error (4-wk WMAPE)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13.5% → 8.5% synthetic; 35% → 22% client assumption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enabler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Stockouts avoided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−30% lost-sales incidents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$6-9M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Excess &amp; obsolete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−15% E&amp;O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$3-5M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Expedite / premium freight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−20%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$4-6M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Planner productivity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NVA 20.5 → 3.3 h per exception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~6 FTE redeployed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57200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1">
                <a:solidFill>
                  <a:srgbClr val="222222"/>
                </a:solidFill>
              </a:rPr>
              <a:t>• Assumptions: </a:t>
            </a:r>
            <a:r>
              <a:rPr sz="1200">
                <a:solidFill>
                  <a:srgbClr val="222222"/>
                </a:solidFill>
              </a:rPr>
              <a:t>$5B revenue manufacturer, ~120 significant demand exceptions/month, 12 SKUs × 4 regions in the prototype; step times mocked; benefits ranges to be validated with the client's SAP history in POC weeks 1-2.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222222"/>
                </a:solidFill>
              </a:rPr>
              <a:t>• Measured in prototype: </a:t>
            </a:r>
            <a:r>
              <a:rPr sz="1200">
                <a:solidFill>
                  <a:srgbClr val="222222"/>
                </a:solidFill>
              </a:rPr>
              <a:t>backtest WMAPE over 16 weekly origins on synthetic data (sensing vs frozen plan vs 13-week moving average).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POC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POC: 8 weeks, one product family, two regions, shadow mode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AI for Demand &amp; Distribution · FDE client challenge · synthetic data, stated assumptions   |   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34440"/>
          <a:ext cx="6949438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667"/>
                <a:gridCol w="4098387"/>
                <a:gridCol w="2227384"/>
              </a:tblGrid>
              <a:tr h="50292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Weeks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Milestone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Exit criteria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0-1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Mobilise; SAP/IBP extracts (3 yrs orders, stock, capacity); VSM baseline with planners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Data contract + baseline KPIs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2-3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Feature pipeline + external signals; sensing model + backtest vs current plan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≥20% WMAPE improvement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4-5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Agents + planner cockpit + Teams approval; SAP sandbox (STO / planned order)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End-to-end on 10 historical events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6-7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Shadow mode next to weekly planning; capture accept/edit/reject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≥60% recommendations accepted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Readout: value case, scale plan to all families/regions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Go / no-go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589520" y="1234440"/>
            <a:ext cx="4114800" cy="14173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300" b="1">
                <a:solidFill>
                  <a:srgbClr val="1F3A5F"/>
                </a:solidFill>
              </a:defRPr>
            </a:pPr>
            <a:r>
              <a:t>Team</a:t>
            </a:r>
          </a:p>
          <a:p>
            <a:pPr>
              <a:defRPr sz="1100">
                <a:solidFill>
                  <a:srgbClr val="222222"/>
                </a:solidFill>
              </a:defRPr>
            </a:pPr>
            <a:r>
              <a:t>FDE lead · data scientist · 2 AI/data engineers ·</a:t>
            </a:r>
          </a:p>
          <a:p>
            <a:pPr>
              <a:defRPr sz="1100">
                <a:solidFill>
                  <a:srgbClr val="222222"/>
                </a:solidFill>
              </a:defRPr>
            </a:pPr>
            <a:r>
              <a:t>SAP integration (0.5) · client: demand planning lead,</a:t>
            </a:r>
          </a:p>
          <a:p>
            <a:pPr>
              <a:defRPr sz="1100">
                <a:solidFill>
                  <a:srgbClr val="222222"/>
                </a:solidFill>
              </a:defRPr>
            </a:pPr>
            <a:r>
              <a:t>S&amp;OP owner, IT/SAP basis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2788920"/>
            <a:ext cx="4114800" cy="14173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300" b="1">
                <a:solidFill>
                  <a:srgbClr val="1F3A5F"/>
                </a:solidFill>
              </a:defRPr>
            </a:pPr>
            <a:r>
              <a:t>Data required</a:t>
            </a:r>
          </a:p>
          <a:p>
            <a:pPr>
              <a:defRPr sz="1100">
                <a:solidFill>
                  <a:srgbClr val="222222"/>
                </a:solidFill>
              </a:defRPr>
            </a:pPr>
            <a:r>
              <a:t>Orders/shipments, inventory by DC, production plans &amp;</a:t>
            </a:r>
          </a:p>
          <a:p>
            <a:pPr>
              <a:defRPr sz="1100">
                <a:solidFill>
                  <a:srgbClr val="222222"/>
                </a:solidFill>
              </a:defRPr>
            </a:pPr>
            <a:r>
              <a:t>capacity, lanes &amp; freight rates, promos, PMI/feedstock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4434840"/>
            <a:ext cx="5577840" cy="178308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300" b="1">
                <a:solidFill>
                  <a:srgbClr val="1F3A5F"/>
                </a:solidFill>
              </a:defRPr>
            </a:pPr>
            <a:r>
              <a:t>KPIs</a:t>
            </a:r>
          </a:p>
          <a:p>
            <a:pPr>
              <a:defRPr sz="1100">
                <a:solidFill>
                  <a:srgbClr val="222222"/>
                </a:solidFill>
              </a:defRPr>
            </a:pPr>
            <a:r>
              <a:t>WMAPE &amp; bias · detection lag · alert precision ·</a:t>
            </a:r>
          </a:p>
          <a:p>
            <a:pPr>
              <a:defRPr sz="1100">
                <a:solidFill>
                  <a:srgbClr val="222222"/>
                </a:solidFill>
              </a:defRPr>
            </a:pPr>
            <a:r>
              <a:t>acceptance rate · OTIF · expedite cost · planner hours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4434840"/>
            <a:ext cx="5532120" cy="178308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300" b="1">
                <a:solidFill>
                  <a:srgbClr val="E76F51"/>
                </a:solidFill>
              </a:defRPr>
            </a:pPr>
            <a:r>
              <a:t>Risks &amp; mitigations</a:t>
            </a:r>
          </a:p>
          <a:p>
            <a:pPr>
              <a:defRPr sz="1100">
                <a:solidFill>
                  <a:srgbClr val="222222"/>
                </a:solidFill>
              </a:defRPr>
            </a:pPr>
            <a:r>
              <a:t>Data quality / master data → profiling in week 1</a:t>
            </a:r>
          </a:p>
          <a:p>
            <a:pPr>
              <a:defRPr sz="1100">
                <a:solidFill>
                  <a:srgbClr val="222222"/>
                </a:solidFill>
              </a:defRPr>
            </a:pPr>
            <a:r>
              <a:t>SAP access → sandbox + mocked APIs first</a:t>
            </a:r>
          </a:p>
          <a:p>
            <a:pPr>
              <a:defRPr sz="1100">
                <a:solidFill>
                  <a:srgbClr val="222222"/>
                </a:solidFill>
              </a:defRPr>
            </a:pPr>
            <a:r>
              <a:t>Planner trust → explain every alert, edit before approve</a:t>
            </a:r>
          </a:p>
          <a:p>
            <a:pPr>
              <a:defRPr sz="1100">
                <a:solidFill>
                  <a:srgbClr val="222222"/>
                </a:solidFill>
              </a:defRPr>
            </a:pPr>
            <a:r>
              <a:t>Scope creep → one family, two regions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PRODUCTION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Production roadmap: from one loop to an autonomous-with-oversight supply 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AI for Demand &amp; Distribution · FDE client challenge · synthetic data, stated assumptions   |  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80160"/>
            <a:ext cx="2697480" cy="22860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00" b="1">
                <a:solidFill>
                  <a:srgbClr val="1F3A5F"/>
                </a:solidFill>
              </a:defRPr>
            </a:pPr>
            <a:r>
              <a:t>POC · wks 1-8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Epoxy family × APAC/EU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Shadow mode, value case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1280160"/>
            <a:ext cx="2697480" cy="22860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00" b="1">
                <a:solidFill>
                  <a:srgbClr val="1F3A5F"/>
                </a:solidFill>
              </a:defRPr>
            </a:pPr>
            <a:r>
              <a:t>MVP · months 3-6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All families in 2 regions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Live SAP writes after approval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UC2 stockout/excess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280160"/>
            <a:ext cx="2697480" cy="22860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00" b="1">
                <a:solidFill>
                  <a:srgbClr val="1F3A5F"/>
                </a:solidFill>
              </a:defRPr>
            </a:pPr>
            <a:r>
              <a:t>Scale · months 6-12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Global; UC3 inventory optimisation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UC4 shipment exceptions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UC7 invoice automation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0" y="1280160"/>
            <a:ext cx="2697480" cy="22860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00" b="1">
                <a:solidFill>
                  <a:srgbClr val="1F3A5F"/>
                </a:solidFill>
              </a:defRPr>
            </a:pPr>
            <a:r>
              <a:t>Transform · 12-24 months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UC5 network optimisation, UC6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supply risk; auto-approve low-value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actions within policy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749039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1">
                <a:solidFill>
                  <a:srgbClr val="222222"/>
                </a:solidFill>
              </a:rPr>
              <a:t>• Platform: </a:t>
            </a:r>
            <a:r>
              <a:rPr sz="1300">
                <a:solidFill>
                  <a:srgbClr val="222222"/>
                </a:solidFill>
              </a:rPr>
              <a:t>shared feature store + MLflow, agent orchestrator, approval and audit services reused by every use case.</a:t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222222"/>
                </a:solidFill>
              </a:rPr>
              <a:t>• Governance: </a:t>
            </a:r>
            <a:r>
              <a:rPr sz="1300">
                <a:solidFill>
                  <a:srgbClr val="222222"/>
                </a:solidFill>
              </a:rPr>
              <a:t>action-value thresholds by role, weekly model performance review, audit trail of every ERP write.</a:t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222222"/>
                </a:solidFill>
              </a:rPr>
              <a:t>• Next steps: </a:t>
            </a:r>
            <a:r>
              <a:rPr sz="1300">
                <a:solidFill>
                  <a:srgbClr val="222222"/>
                </a:solidFill>
              </a:rPr>
              <a:t>confirm POC scope and sponsor · SAP/IBP extract request · planner workshop for the VSM baseline.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66360"/>
            <a:ext cx="11247120" cy="11430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solidFill>
              <a:srgbClr val="6C75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6C757D"/>
                </a:solidFill>
              </a:defRPr>
            </a:pPr>
            <a:r>
              <a:t>Assumptions &amp; synthetic data</a:t>
            </a:r>
          </a:p>
          <a:p>
            <a:pPr>
              <a:defRPr sz="1000">
                <a:solidFill>
                  <a:srgbClr val="222222"/>
                </a:solidFill>
              </a:defRPr>
            </a:pPr>
            <a:r>
              <a:t>104 weeks of synthetic orders (12 SKUs × 4 regions × 12 customers), PMI/Brent/construction signals, DC inventory, plant capacity and lanes, with two injected events (APAC epoxy project ramp; EU PVC outage). VSM step times mocked; financial benefits are ranges for a ~$5B manufacturer. SAP/IBP calls are mocked payloads.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